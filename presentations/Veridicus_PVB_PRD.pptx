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 inicial. Este es un proyecto de un solo semestre (curso Tópicos Especiales en Informática, módulo 2 y 3): elegir un producto que corra sobre Kubernetes y use IA de forma defendible, investigarlo, y convertirlo en un Product Vision Board (PVB) y un Product Requirements Document (PRD). Aclarar que Veridicus también está alineado con mi Trabajo de Grado de Maestría ('Diálogos para la Memoria'), pero hoy muestro específicamente el avance de este curso: PVB + PRD + la investigación que los sustenta. Objetivo de los próximos 10 minutos: dar una idea general de cada pieza, no agotar el detalle — el resto queda en el repositorio para quien quiera profundizar.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Cifras de docs/overview.md y docs/pvb.md, con fuente en el Informe Final de la Comisión de la Verdad (research/02-memoria-historica-y-conflicto/). Tres dolores concretos: (1) fatiga analítica — cotejar un solo testimonio contra el expediente puede tomar días; (2) costo emocional — burnout y trauma secundario en investigadores que procesan relatos de violencia; (3) sesgo cognitivo — analistas distintos detectan (o dejan pasar) contradicciones de forma inconsistente por cansancio. Este es el dolor que Veridicus ataca, no un dolor inventado.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one-liner y el JTBD de pvb.md / prd.md Segmento 1. El principio no negociable más importante del proyecto: el sistema NUNCA declara que alguien miente. Solo señala 'incongruencia semántica' o 'fluctuación afectiva por posible trauma/estrés'. Esto nace de docs/critica.md: los detectores de mentiras clásicos son pseudociencia y el estrés postraumático se confunde fácilmente con engaño. La decisión de diseño más defendible del proyecto es justamente esta frontera ética.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Resumen de las secciones 2 a 5 de pvb.md. Segmento: no es 'empresas', es un ICP muy específico (JEP, DAV, CNMH) con dos vetos de confianza distintos (seguridad y ética), documentado en docs/icp.md con personas ficticias (Clara, Andrés, Sofía). Ventaja Trust: se compite con confianza/soberanía, no con datos únicos ni distribución. Arena Disruptor: reimagina un flujo ya existente (el cotejo manual), no crea un mercado que no existiera sin IA. Paradigma Agent: ni Assistant (limitaría el diálogo) ni Autonomous (inviable éticamente) — recopila el testimonio y valida, pero no decide.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los 3 riesgos críticos de pvb.md Segmento 9 (hay más, estos son los que más definen el diseño). Comoditización: se mitiga con la calibración científica (LieXBerta) + CoT nativo, no con un RAG genérico. Exceso de confianza / sesgo de automatización: se mitiga forzando al analista a expandir y leer la justificación antes de aceptar una alerta — UX 'escéptico' por diseño. Revictimización: es el riesgo más grave — el sistema jamás usa la palabra 'mentira/engaño', solo 'fluctuación afectiva por posible trauma'. Esta jerarquía de riesgos viene directamente de docs/critica.md, no solo del PVB.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 el proceso, no solo el resultado — esto es lo que el curso evalúa explícitamente. Paso 0 (docs/iteracion1.md): antes de escribir el PRD, se cruzaron PVB, overview, mercado, icp y crítica en busca de contradicciones. Se resolvieron 4 conflictos reales, por ejemplo: ¿'detector de mentiras' o 'motor de incongruencias'? -&gt; se eliminó el vocabulario de mentira en la UI. Los 13 segmentos van desde el one-liner hasta el plan de entrega alineado al curso (specs/prd.md). Importante: la decisión de cada conflicto la tomé yo, no la IA — es justo la frontera que este ejercicio evalúa.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 simplificado del Segmento 9 de prd.md. Puntos clave a decir en voz alta: (1) todo el procesamiento sensible es local — Whisper y el agente evaluador corren en el clúster; (2) el proxy de anonimización es el único camino hacia una API externa, y solo se usa si se opta por un LLM comercial de alta capacidad; (3) pgvector guarda el 'marco de verdad' (para el MVP, escenarios sintéticos, no expedientes reales); (4) herramientas CNCF: KEDA escala los pods de IA a cero cuando no hay entrevistas activas (ahorro de costo), CloudNativePG gestiona Postgres, Argo Workflows corre los pipelines batch pesados, Prometheus+Grafana dan observabilidad. Esto es lo que se construye en los módulos 4 a 8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Segmento 8 del PRD. La restricción real detrás de este recorte: hardware CPU-only del clúster académico, sin GPU. Por eso se bajó de voz continua en tiempo real a texto plano con grabación opcional por demanda (push-to-talk), y de LieXBerta completo (RoBERTa + XGBoost entrenado) a, como mucho, un clasificador afectivo ligero por palabras clave. Los datos reales de JEP/CNMH quedan fuera por confidencialidad y ética — se usa únicamente un 'Golden Dataset' de 10 transcripciones sintéticas con incongruencias sembradas a propósito. Esto es una decisión de alcance consciente, no una limitación oculta.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documento de docs/ alimenta un segmento distinto del PRD y todos citan el corpus de research/ (26 fuentes: leyes colombianas, informes CNMH/CEV, papers de LLM-as-a-judge, análisis forense del testimonio, ética de IA). overview.md da el marco conceptual completo; mercado.md compara contra 3 tipos de competencia (hyperscalers, emotion AI corporativa, herramientas K8s open source) y ninguna sirve para este nicho; icp.md detalla los 3 roles que deciden la adopción, no solo el usuario final; critica.md es, según la rúbrica del curso, la sección más valiosa — es la que casi nadie hace en serio.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docs/critica.md, section 2. Mitigaciones (para tener a mano si preguntan): (1) PTSD: prohibición de diseño de usar 'mentira/engaño', CoT que separa error de memoria vs. contradicción de hecho central. (2) Prompt injection hablado: separación en contenedores — el módulo que conversa no decide veracidad; un evaluador aislado con instrucciones de fábrica ignora órdenes del entrevistado. (3) Obsolescencia: arquitectura 'enchufable' vía gRPC/WebSockets que permite cambiar el motor de voz sin tocar el detector de incongruencias. El punto para la audiencia: un PVB sin riesgos reales es un PVB que no se investigó — esto es lo que se evalúa como 'honestidad crítica'.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Mapa rápido para quien quiera navegar el repo después. research/README.md documenta, para cada uno de los 26 documentos fuente, qué sección del PVB o la crítica lo cita y por qué — así ninguna cifra queda sin fuente verificable (regla de evidencia del curso). El README raíz conecta cada entregable con la página exacta del repositorio del curso (lfarizav/topicos-especiales) que especifica qué había que entregar y cómo se evalúa. Mencionar brevemente que esta carpeta presentations/ es nueva, para este resumen.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Resumir en una frase: hoy se entrega la visión (PVB) y los requisitos (PRD) de un producto acotado, honesto sobre sus límites, y con una frontera ética explícita (nunca declarar mentira). Lo que sigue en el curso es construirlo realmente en Kubernetes módulo a módulo; lo que sigue en el Trabajo de Grado es completar el componente de detección afectiva con datos reales, bajo supervisión ética. Abrir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C4B6"/>
                </a:solidFill>
                <a:latin typeface="Calibri"/>
              </a:rPr>
              <a:t>PROYECTO DE CURSO · MÓDULOS 2-3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Veridicus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7D2E0"/>
                </a:solidFill>
                <a:latin typeface="Calibri"/>
              </a:rPr>
              <a:t>Diálogos para la Memoria — Entrevista asistida por IA y detección de incongruencias forenses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A99B5"/>
                </a:solidFill>
                <a:latin typeface="Calibri"/>
              </a:rPr>
              <a:t>Tópicos Especiales en Informática · 2026-3 · Pontificia Universidad Javeriana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A99B5"/>
                </a:solidFill>
                <a:latin typeface="Calibri"/>
              </a:rPr>
              <a:t>Felipe Reyes Palacio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Un volumen de testimonios imposible de leer a 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38328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0E1E3A"/>
                </a:solidFill>
                <a:latin typeface="Calibri"/>
              </a:rPr>
              <a:t>14,000+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B82"/>
                </a:solidFill>
                <a:latin typeface="Calibri"/>
              </a:rPr>
              <a:t>entrevistas recopiladas por la</a:t>
            </a:r>
          </a:p>
          <a:p>
            <a:pPr algn="ctr"/>
            <a:r>
              <a:rPr sz="1400" b="0" i="0">
                <a:solidFill>
                  <a:srgbClr val="5B6B82"/>
                </a:solidFill>
                <a:latin typeface="Calibri"/>
              </a:rPr>
              <a:t>Comisión de la Verdad (CEV)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0312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103120"/>
            <a:ext cx="338328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5603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0E1E3A"/>
                </a:solidFill>
                <a:latin typeface="Calibri"/>
              </a:rPr>
              <a:t>30,000+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576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B82"/>
                </a:solidFill>
                <a:latin typeface="Calibri"/>
              </a:rPr>
              <a:t>personas con las que conversó</a:t>
            </a:r>
          </a:p>
          <a:p>
            <a:pPr algn="ctr"/>
            <a:r>
              <a:rPr sz="1400" b="0" i="0">
                <a:solidFill>
                  <a:srgbClr val="5B6B82"/>
                </a:solidFill>
                <a:latin typeface="Calibri"/>
              </a:rPr>
              <a:t>la CEV en el proceso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03120"/>
            <a:ext cx="3383280" cy="24688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103120"/>
            <a:ext cx="3383280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2560320"/>
            <a:ext cx="3383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0E1E3A"/>
                </a:solidFill>
                <a:latin typeface="Calibri"/>
              </a:rPr>
              <a:t>9M+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65760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B6B82"/>
                </a:solidFill>
                <a:latin typeface="Calibri"/>
              </a:rPr>
              <a:t>víctimas registradas del</a:t>
            </a:r>
          </a:p>
          <a:p>
            <a:pPr algn="ctr"/>
            <a:r>
              <a:rPr sz="1400" b="0" i="0">
                <a:solidFill>
                  <a:srgbClr val="5B6B82"/>
                </a:solidFill>
                <a:latin typeface="Calibri"/>
              </a:rPr>
              <a:t>conflicto armado en Colombia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3776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Calibri"/>
              </a:rPr>
              <a:t>El cotejo manual es lento, costoso y desgasta emocionalmente al analista — y la fatiga humana produce inconsistencias entre evaluadores.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C4B6"/>
                </a:solidFill>
                <a:latin typeface="Calibri"/>
              </a:rPr>
              <a:t>QUÉ ES VERIDICUS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“Un agente de IA que contrasta el testimonio oral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contra un marco de verdad documental—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y señala incongruencias, nunca veredictos de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verdad o mentira.”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663440"/>
            <a:ext cx="3291840" cy="1188720"/>
          </a:xfrm>
          <a:prstGeom prst="roundRect">
            <a:avLst>
              <a:gd name="adj" fmla="val 12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8006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🏛️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349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Justicia transicional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663440"/>
            <a:ext cx="3291840" cy="1188720"/>
          </a:xfrm>
          <a:prstGeom prst="roundRect">
            <a:avLst>
              <a:gd name="adj" fmla="val 12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8006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5349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Kubernetes soberano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4663440"/>
            <a:ext cx="3291840" cy="1188720"/>
          </a:xfrm>
          <a:prstGeom prst="roundRect">
            <a:avLst>
              <a:gd name="adj" fmla="val 12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4800600"/>
            <a:ext cx="640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5349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IA como asistente, no juez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PRODUCT VISION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La visión del producto, en 4 decisiones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Segmento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Analistas de la JEP, CNMH y comisiones de la verdad. Veto de confianza: CISO + oficial de ética.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Ventaja: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Kubernetes soberano + explicabilidad CoT + metodología científica (LieXBerta), no heurísticas.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⚔️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Arena: Disruptor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Reimagina el cotejo manual — no compite con hyperscalers, los orquesta localmente.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Paradigma: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La IA actúa dentro de límites estrictos; nunca autónoma, nunca decide por el analista.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RIESGOS CRÍTICOS DEL PVB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Lo que más puede romper la confianza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82296" cy="29260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Comoditización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2971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B82"/>
                </a:solidFill>
                <a:latin typeface="Calibri"/>
              </a:rPr>
              <a:t>Un script RAG gratuito replica lo básico en semanas.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10312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2103120"/>
            <a:ext cx="82296" cy="292608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2402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7249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Exceso de confianza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127248"/>
            <a:ext cx="2971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B82"/>
                </a:solidFill>
                <a:latin typeface="Calibri"/>
              </a:rPr>
              <a:t>El analista acepta una alerta errónea sin cuestionarla.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103120"/>
            <a:ext cx="3429000" cy="2926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103120"/>
            <a:ext cx="82296" cy="2926080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2402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7249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Revictimización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127248"/>
            <a:ext cx="297180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B6B82"/>
                </a:solidFill>
                <a:latin typeface="Calibri"/>
              </a:rPr>
              <a:t>Confundir el trauma (PTSD) con intento de engaño.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B6B82"/>
                </a:solidFill>
                <a:latin typeface="Calibri"/>
              </a:rPr>
              <a:t>Mitigación común: la IA nunca decide sola — cada alerta se propone al analista con su justificación (Cadena de Pensamiento).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DE LA VISIÓN A LOS REQUISITOS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Cómo se construyó el PRD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331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PVB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aprobado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3774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743200"/>
            <a:ext cx="2331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Paso 0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conflictos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3774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2331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13 segmentos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co-creados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377440"/>
            <a:ext cx="2331720" cy="13716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2331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PRD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consolidado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3063240.0"/>
            <a:ext cx="502920" cy="0.0"/>
          </a:xfrm>
          <a:prstGeom prst="line">
            <a:avLst/>
          </a:prstGeom>
          <a:ln w="3175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06440" y="3063240.0"/>
            <a:ext cx="502920" cy="0.0"/>
          </a:xfrm>
          <a:prstGeom prst="line">
            <a:avLst/>
          </a:prstGeom>
          <a:ln w="3175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0" y="3063240.0"/>
            <a:ext cx="502920" cy="0.0"/>
          </a:xfrm>
          <a:prstGeom prst="line">
            <a:avLst/>
          </a:prstGeom>
          <a:ln w="3175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206240"/>
            <a:ext cx="10881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1F2937"/>
                </a:solidFill>
                <a:latin typeface="Calibri"/>
              </a:rPr>
              <a:t>Regla del curso: “el agente propone, el humano aprueba”. Cada uno de los 13 segmentos del PRD se generó, se discutió y se aprobó por separado — nunca en bloque.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PRD —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Todo corre en un clúster Kubernetes local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E1E3A"/>
                </a:solidFill>
                <a:latin typeface="Calibri"/>
              </a:rPr>
              <a:t>Analista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E1E3A"/>
                </a:solidFill>
                <a:latin typeface="Calibri"/>
              </a:rPr>
              <a:t>(Frontend 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331720"/>
            <a:ext cx="685800" cy="0"/>
          </a:xfrm>
          <a:prstGeom prst="line">
            <a:avLst/>
          </a:prstGeom>
          <a:ln w="254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19659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6596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Orquestador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(FastAPI)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2331720"/>
            <a:ext cx="685800" cy="0"/>
          </a:xfrm>
          <a:prstGeom prst="line">
            <a:avLst/>
          </a:prstGeom>
          <a:ln w="254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0" y="19659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65960"/>
            <a:ext cx="1737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E1E3A"/>
                </a:solidFill>
                <a:latin typeface="Calibri"/>
              </a:rPr>
              <a:t>Cola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E1E3A"/>
                </a:solidFill>
                <a:latin typeface="Calibri"/>
              </a:rPr>
              <a:t>(Redis)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2697480"/>
            <a:ext cx="0" cy="548640"/>
          </a:xfrm>
          <a:prstGeom prst="line">
            <a:avLst/>
          </a:prstGeom>
          <a:ln w="254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0" y="32918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29184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Whisper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(voz→texto, CPU)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2918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291840"/>
            <a:ext cx="21031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Agente RAG</a:t>
            </a:r>
          </a:p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(evaluador local)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0" y="4023360"/>
            <a:ext cx="0" cy="457200"/>
          </a:xfrm>
          <a:prstGeom prst="line">
            <a:avLst/>
          </a:prstGeom>
          <a:ln w="254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78240" y="4023360"/>
            <a:ext cx="0" cy="457200"/>
          </a:xfrm>
          <a:prstGeom prst="line">
            <a:avLst/>
          </a:prstGeom>
          <a:ln w="254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0" y="4526280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526280"/>
            <a:ext cx="4206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PostgreSQL + pgvector  (CloudNativePG)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75520" y="3657600"/>
            <a:ext cx="731520" cy="0"/>
          </a:xfrm>
          <a:prstGeom prst="line">
            <a:avLst/>
          </a:prstGeom>
          <a:ln w="254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515600" y="3291840"/>
            <a:ext cx="1188720" cy="731520"/>
          </a:xfrm>
          <a:prstGeom prst="roundRect">
            <a:avLst>
              <a:gd name="adj" fmla="val 10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3291840"/>
            <a:ext cx="1188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Proxy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anonimiza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53949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Nube externa</a:t>
            </a:r>
          </a:p>
          <a:p>
            <a:pPr algn="ctr"/>
            <a:r>
              <a:rPr sz="1000" b="0" i="0">
                <a:solidFill>
                  <a:srgbClr val="5B6B82"/>
                </a:solidFill>
                <a:latin typeface="Calibri"/>
              </a:rPr>
              <a:t>(opcional)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109960" y="4023360"/>
            <a:ext cx="0" cy="1325880"/>
          </a:xfrm>
          <a:prstGeom prst="line">
            <a:avLst/>
          </a:prstGeom>
          <a:ln w="25400">
            <a:solidFill>
              <a:srgbClr val="5B6B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B82"/>
                </a:solidFill>
                <a:latin typeface="Calibri"/>
              </a:rPr>
              <a:t>Ningún dato sale del clúster sin pasar por el proxy de anonimización. CNCF: KEDA (autoescala a 0), CloudNativePG, Argo Workflows, Prometheus.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PRD — ALCANCE DEL MVP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Qué entra y qué se deja para después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257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Texto plano en español · RAG local · CoT plegable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201168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0760" y="201168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011680"/>
            <a:ext cx="5257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SHOULD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Feedback visual de carga · edición manual de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0233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257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COULD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Clasificador afectivo ligero (palabras clave)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02336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0760" y="4023360"/>
            <a:ext cx="5257800" cy="502920"/>
          </a:xfrm>
          <a:prstGeom prst="roundRect">
            <a:avLst>
              <a:gd name="adj" fmla="val 6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4023360"/>
            <a:ext cx="5257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WON'T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663440"/>
            <a:ext cx="4709160" cy="1051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1F2937"/>
                </a:solidFill>
                <a:latin typeface="Calibri"/>
              </a:rPr>
              <a:t>Voz en tiempo real · GPU dedicada · LieXBerta completo · datos reales JEP/CNMH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LA INVESTIGACIÓN DETRÁS DEL PRD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docs/ — los insumos que alimentan la especificación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overview.md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Panorama del dominio: justicia transicional, PLN forense, marco ético-legal.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mercado.md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Por qué ningún competidor (hyperscalers, emotion AI, K8sGPT) cubre este nicho.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icp.md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3 buyer personas: analista, CISO/SRE, oficial de ética — y sus vetos de confianza.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05740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2057400"/>
            <a:ext cx="82296" cy="31089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19456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679192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2937"/>
                </a:solidFill>
                <a:latin typeface="Calibri"/>
              </a:rPr>
              <a:t>critica.md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081528"/>
            <a:ext cx="214884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5B6B82"/>
                </a:solidFill>
                <a:latin typeface="Calibri"/>
              </a:rPr>
              <a:t>Investigación adversarial: por qué Veridicus podría fallar, sin filtros.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Calibri"/>
              </a:rPr>
              <a:t>INVESTIGACIÓN ADVERSARIAL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Atacando la propia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82296" cy="32918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PTSD ≠ mentira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44368"/>
            <a:ext cx="29718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El estrés postraumático altera el habla; confundirlo con engaño revictimiza.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92024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920240"/>
            <a:ext cx="82296" cy="32918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574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4203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Prompt injection hablado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944368"/>
            <a:ext cx="29718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El compareciente puede intentar 'ordenarle' al agente que valide todo.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920240"/>
            <a:ext cx="3429000" cy="3291840"/>
          </a:xfrm>
          <a:prstGeom prst="roundRect">
            <a:avLst>
              <a:gd name="adj" fmla="val 8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920240"/>
            <a:ext cx="82296" cy="3291840"/>
          </a:xfrm>
          <a:prstGeom prst="rect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205740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F2937"/>
                </a:solidFill>
                <a:latin typeface="Calibri"/>
              </a:rPr>
              <a:t>⏱️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4203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Obsolescencia por voz nativa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944368"/>
            <a:ext cx="297180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C7D2E0"/>
                </a:solidFill>
                <a:latin typeface="Calibri"/>
              </a:rPr>
              <a:t>Modelos de voz de extremo a extremo podrían volver obsoleto el pipeline en meses.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A99B5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A99B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ESTRUCTURA DEL REPOSITORIO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0467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2937"/>
                </a:solidFill>
                <a:latin typeface="Calibri"/>
              </a:rPr>
              <a:t>Cómo está organizado todo esto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pvb.md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057400"/>
            <a:ext cx="8366760" cy="7772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057400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Entregable 1 — Product Vision 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docs/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880360"/>
            <a:ext cx="8366760" cy="7772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60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Insumos: overview, mercado, icp, crítica, bitácora Paso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specs/prd.md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703320"/>
            <a:ext cx="8366760" cy="7772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703320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Entregable 2 — 13 segmentos de requisitos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research/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526280"/>
            <a:ext cx="8366760" cy="7772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526280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Corpus citado: 26 fuentes en 6 categorías, con índice trazable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5B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49240"/>
            <a:ext cx="23774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README.md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5349240"/>
            <a:ext cx="8366760" cy="7772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5349240"/>
            <a:ext cx="79552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Calibri"/>
              </a:rPr>
              <a:t>Mapa del repo + qué página del curso exige cada entregable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  <a:latin typeface="Calibri"/>
              </a:rPr>
              <a:t>Veridicus · Diálogos para la Memoria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B6B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C4B6"/>
                </a:solidFill>
                <a:latin typeface="Calibri"/>
              </a:rPr>
              <a:t>¿QUÉ SIGUE?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De aquí a producción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566160" cy="237744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C4B6"/>
                </a:solidFill>
                <a:latin typeface="Calibri"/>
              </a:rPr>
              <a:t>Módulos 4-8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Construir Veridicus en un clúster Kubernetes real: K8s, CKA, CKAD, CKS, GitOps.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377440"/>
            <a:ext cx="3566160" cy="237744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651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C4B6"/>
                </a:solidFill>
                <a:latin typeface="Calibri"/>
              </a:rPr>
              <a:t>Sesión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32004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Sustentación del MVP: escenario sintético, texto en español, alertas con CoT.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377440"/>
            <a:ext cx="3566160" cy="2377440"/>
          </a:xfrm>
          <a:prstGeom prst="roundRect">
            <a:avLst>
              <a:gd name="adj" fmla="val 10000"/>
            </a:avLst>
          </a:prstGeom>
          <a:solidFill>
            <a:srgbClr val="16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651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EC4B6"/>
                </a:solidFill>
                <a:latin typeface="Calibri"/>
              </a:rPr>
              <a:t>TG2 (2027)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2004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7D2E0"/>
                </a:solidFill>
                <a:latin typeface="Calibri"/>
              </a:rPr>
              <a:t>LieXBerta completo (RoBERTa + XGBoost) y evaluación con datos reales de la JEP.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Gracias — preguntas.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