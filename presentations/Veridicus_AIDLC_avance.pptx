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  <p:sldId id="263" r:id="rId14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df646b14-1b66-ee29-5d8a-125066e9c314}">
          <p14:sldIdLst>
            <p14:sldId id="256"/>
          </p14:sldIdLst>
        </p14:section>
        <p14:section name="Ejecución" id="{3eeea514-e62c-7e4d-fc75-bb0c57a453ff}">
          <p14:sldIdLst>
            <p14:sldId id="257"/>
          </p14:sldIdLst>
        </p14:section>
        <p14:section name="Inception" id="{404e366a-6c7e-77d8-153d-a443f97a1fd4}">
          <p14:sldIdLst>
            <p14:sldId id="258"/>
          </p14:sldIdLst>
        </p14:section>
        <p14:section name="Arquitectura" id="{5242045a-cc36-3199-57ae-5f2ee34c1b67}">
          <p14:sldIdLst>
            <p14:sldId id="259"/>
            <p14:sldId id="260"/>
          </p14:sldIdLst>
        </p14:section>
        <p14:section name="Implementación" id="{2d2edab1-f819-2052-557b-5bb8b78403c1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Veridicus es el MVP de mi trabajo de grado, Diálogos para la Memoria.</a:t>
            </a:r>
          </a:p>
          <a:p>
            <a:r>
              <a:t>Idea en una frase: apoya al analista de justicia transicional comparando lo que dice el compareciente con un marco documental.</a:t>
            </a:r>
          </a:p>
          <a:p>
            <a:r>
              <a:t>Recorrer el flujo de la derecha (1 → 4): entra el testimonio, se busca en el marco de verdad, la IA propone una sugerencia con fragmento, cita y razonamiento, y el analista decide.</a:t>
            </a:r>
          </a:p>
          <a:p>
            <a:r>
              <a:t>Mensaje clave: la IA nunca dice quién miente y ningún dato sale del clúster.</a:t>
            </a:r>
          </a:p>
          <a:p>
            <a:r>
              <a:t>Hoy: cómo va con AI-DLC y, sobre todo, la etapa nueva: Infrastructure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Uso AI-DLC 2.10, no la 1.0.1 de la guía. Las etiquetas «v2» marcan las etapas que no existían en la guía.</a:t>
            </a:r>
          </a:p>
          <a:p>
            <a:r>
              <a:t>Inception (fila de arriba) se hizo una vez para todo el producto y está aprobada.</a:t>
            </a:r>
          </a:p>
          <a:p>
            <a:r>
              <a:t>Construction recorre las 10 unidades etapa por etapa. Novedad de hoy: Infrastructure Design quedó aprobada para las 9 unidades que la necesitan.</a:t>
            </a:r>
          </a:p>
          <a:p>
            <a:r>
              <a:t>Ahora estamos en Code Generation, pero solo la Parte 1: el plan de tareas. Ya está el de la primera unidad, U1 contratos: 19 pasos, cada uno con su comando de verificación. El octágono es el ALTO: no se escribe código en este trabajo.</a:t>
            </a:r>
          </a:p>
          <a:p>
            <a:r>
              <a:t>Cada etapa pasa por un revisor adversarial y por mi aprobación.</a:t>
            </a:r>
          </a:p>
          <a:p>
            <a:r>
              <a:t>Abajo: todo corre en un contenedor aislado y el trabajo solo sale por git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Enlace: «Ver las 7 maquetas en línea» abre el artefacto con las pantallas M0–M6 (clic en el enlace o en la maqueta).</a:t>
            </a:r>
          </a:p>
          <a:p>
            <a:r>
              <a:t>Esta es la pantalla principal (M4), sale de Refined Mockups.</a:t>
            </a:r>
          </a:p>
          <a:p>
            <a:r>
              <a:t>Izquierda: la transcripción con el estado de cada turno. Derecha: la sugerencia con fragmento, cita y documento; el analista acepta, edita o descarta.</a:t>
            </a:r>
          </a:p>
          <a:p>
            <a:r>
              <a:t>Turno 3: si la similitud está bajo el umbral no hay alerta, solo el Paquete de Contexto de Traspaso.</a:t>
            </a:r>
          </a:p>
          <a:p>
            <a:r>
              <a:t>Las cifras resumen Inception: 44 historias, 139 criterios, 9 decisiones de arquitectura y 16 contratos.</a:t>
            </a:r>
          </a:p>
          <a:p>
            <a:r>
              <a:t>Abajo, las 5 reglas AUTONOMIA: son bloqueantes en cada etapa.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Domain Design dejó 11 componentes y ningún ciclo de dependencias.</a:t>
            </a:r>
          </a:p>
          <a:p>
            <a:r>
              <a:t>La consola solo habla con ConsoleApi, la fachada que autentica y autoriza.</a:t>
            </a:r>
          </a:p>
          <a:p>
            <a:r>
              <a:t>En verde, el dominio. En naranja, la IA, que trabaja por colas: primero la guardia del umbral y solo después el juez.</a:t>
            </a:r>
          </a:p>
          <a:p>
            <a:r>
              <a:t>Punteados, los transversales: el vocabulario prohibido y un único puerto hacia los modelos.</a:t>
            </a:r>
          </a:p>
          <a:p>
            <a:r>
              <a:t>Todo vive dentro del clúster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11 componentes caben en 4 servicios. session-api es un monolito modular; semantic-agent evalúa con permisos de solo lectura.</a:t>
            </a:r>
          </a:p>
          <a:p>
            <a:r>
              <a:t>Datos: PostgreSQL con pgvector, Redis para las colas y un volumen para los reportes.</a:t>
            </a:r>
          </a:p>
          <a:p>
            <a:r>
              <a:t>Los modelos corren dentro del clúster y en CPU: el juez de 7B, los embeddings y Whisper para la voz.</a:t>
            </a:r>
          </a:p>
          <a:p>
            <a:r>
              <a:t>A la derecha, la entrega GitOps: PR con evidencia, imagen por SHA y Argo CD. La CI nunca despliega.</a:t>
            </a:r>
          </a:p>
          <a:p>
            <a:r>
              <a:t>Transición: la siguiente etapa decidió dónde corre todo 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Diez unidades ordenadas en Bolts que siguen los módulos 6 a 8 del curso.</a:t>
            </a:r>
          </a:p>
          <a:p>
            <a:r>
              <a:t>Antes del primer Bolt: blindar GitHub y preparar el Golden Dataset sintético.</a:t>
            </a:r>
          </a:p>
          <a:p>
            <a:r>
              <a:t>B1 a B3 son la primera rebanada de punta a punta: el flujo de texto. La voz llega solo cuando el texto funciona.</a:t>
            </a:r>
          </a:p>
          <a:p>
            <a:r>
              <a:t>La línea roja es el corte MUST: lo de la derecha espera.</a:t>
            </a:r>
          </a:p>
          <a:p>
            <a:r>
              <a:t>Abajo, las 5 actividades de cada unidad: pruebas guardia en rojo, capa por capa, evaluación de IA, PR con evidencia y humo.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Infrastructure Design responde dónde y con qué corre todo.</a:t>
            </a:r>
          </a:p>
          <a:p>
            <a:r>
              <a:t>Un solo chart de Helm y las mismas imágenes, en dos máquinas con Minikube.</a:t>
            </a:r>
          </a:p>
          <a:p>
            <a:r>
              <a:t>Desarrollo: 20 GiB y 10 CPU, todo el sistema en CPU. Demostración: la máquina de 32 GB, con GPU opcional para la evaluación y la demo.</a:t>
            </a:r>
          </a:p>
          <a:p>
            <a:r>
              <a:t>Derecha, las guardias: una NetworkPolicy niega toda salida salvo DNS (AUTONOMIA-04); los modelos se montan de solo lectura y se verifican con sha256 antes de arrancar; y los pods corren sin root.</a:t>
            </a:r>
          </a:p>
          <a:p>
            <a:r>
              <a:t>Respaldo: un pg_dump manual antes de la sustentación.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camino de cualquier cambio de infraestructura.</a:t>
            </a:r>
          </a:p>
          <a:p>
            <a:r>
              <a:t>1, todo cambio es un PR con evidencia. 2, la CI valida sin clúster: renderiza el chart, valida esquemas y aplica políticas Kyverno. 3, la fusión en main protegida es la aprobación humana registrada. 4, yo aplico el artefacto fusionado; desde el módulo 8, Argo CD con una llave de solo lectura. 5, prueba de humo; si falla, git revert.</a:t>
            </a:r>
          </a:p>
          <a:p>
            <a:r>
              <a:t>La CI no tiene credenciales del clúster: eso cumple AUTONOMIA-01.</a:t>
            </a:r>
          </a:p>
          <a:p>
            <a:r>
              <a:t>Cierre: Infrastructure Design quedó aprobada para 9 unidades. Ya arrancó Code Generation Parte 1: el plan de U1 contratos está listo, con 19 pasos y las pruebas de contratos en rojo primero. Siguen los planes de las demás unidades, sin escribir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_O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64008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Veridicus · avance con AI-DLC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laude.ai/artifact/5D2otJRp5fh6YsccE6m8iw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PROYECTO DE CURSO · AVANCE CON AI-DLC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Veridicus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Diálogos para la Memoria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Sugerencias de revisión con su razonamiento. Nunca veredictos. Todo dentro de un clúster local.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1663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Felipe Reyes Palacio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5321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Tópicos Especiales en Informática · 2026-3 · Pontificia Universidad Javeriana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11430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823960" y="112471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Testimonio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texto o voz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52460" y="1965960"/>
            <a:ext cx="0" cy="429768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7863840" y="2441448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823960" y="2423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Marco de verdad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pgvector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52460" y="3264408"/>
            <a:ext cx="0" cy="429768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7863840" y="3739896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823960" y="372160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Sugerencia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fragmento · cita · CoT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52460" y="4562856"/>
            <a:ext cx="0" cy="429768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7863840" y="5038344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823960" y="5020056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Analista decide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aceptar · editar · descartar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EJECUCIÓN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AI-DLC v2.10: Inception lista, Construction en curso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092440" y="329184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48472" y="2834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Aprobada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326880" y="329184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582912" y="2834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 curso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561320" y="329184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817352" y="2834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Pendiente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298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INCEPTION · una vez para todo el producto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691640"/>
            <a:ext cx="1307592" cy="1143000"/>
          </a:xfrm>
          <a:prstGeom prst="roundRect">
            <a:avLst>
              <a:gd name="adj" fmla="val 6400"/>
            </a:avLst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76200" tIns="63500" rIns="63500" bIns="5080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Practices Discovery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380744" y="1563624"/>
            <a:ext cx="347472" cy="219456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v2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1691640"/>
            <a:ext cx="1307592" cy="1143000"/>
          </a:xfrm>
          <a:prstGeom prst="roundRect">
            <a:avLst>
              <a:gd name="adj" fmla="val 6400"/>
            </a:avLst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76200" tIns="63500" rIns="63500" bIns="5080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Requirements Analysis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1691640"/>
            <a:ext cx="1307592" cy="1143000"/>
          </a:xfrm>
          <a:prstGeom prst="roundRect">
            <a:avLst>
              <a:gd name="adj" fmla="val 6400"/>
            </a:avLst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76200" tIns="63500" rIns="63500" bIns="5080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User Stories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1691640"/>
            <a:ext cx="1307592" cy="1143000"/>
          </a:xfrm>
          <a:prstGeom prst="roundRect">
            <a:avLst>
              <a:gd name="adj" fmla="val 6400"/>
            </a:avLst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76200" tIns="63500" rIns="63500" bIns="5080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Refined Mockups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32704" y="1563624"/>
            <a:ext cx="347472" cy="219456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v2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1691640"/>
            <a:ext cx="1307592" cy="1143000"/>
          </a:xfrm>
          <a:prstGeom prst="roundRect">
            <a:avLst>
              <a:gd name="adj" fmla="val 6400"/>
            </a:avLst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76200" tIns="63500" rIns="63500" bIns="5080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Domain Design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050024" y="1563624"/>
            <a:ext cx="347472" cy="219456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v2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1691640"/>
            <a:ext cx="1307592" cy="1143000"/>
          </a:xfrm>
          <a:prstGeom prst="roundRect">
            <a:avLst>
              <a:gd name="adj" fmla="val 6400"/>
            </a:avLst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76200" tIns="63500" rIns="63500" bIns="5080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Units Generation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1691640"/>
            <a:ext cx="1307592" cy="1143000"/>
          </a:xfrm>
          <a:prstGeom prst="roundRect">
            <a:avLst>
              <a:gd name="adj" fmla="val 6400"/>
            </a:avLst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76200" tIns="63500" rIns="63500" bIns="5080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Contract Design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884664" y="1563624"/>
            <a:ext cx="347472" cy="219456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v2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0378440" y="1691640"/>
            <a:ext cx="1307592" cy="1143000"/>
          </a:xfrm>
          <a:prstGeom prst="roundRect">
            <a:avLst>
              <a:gd name="adj" fmla="val 6400"/>
            </a:avLst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76200" tIns="63500" rIns="63500" bIns="5080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Delivery Planning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301984" y="1563624"/>
            <a:ext cx="347472" cy="219456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v2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CONSTRUCTION · etapa por etapa, sobre las 10 unidades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502152"/>
            <a:ext cx="1307592" cy="1143000"/>
          </a:xfrm>
          <a:prstGeom prst="roundRect">
            <a:avLst>
              <a:gd name="adj" fmla="val 6400"/>
            </a:avLst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76200" tIns="63500" rIns="63500" bIns="5080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Functional Design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874520" y="3502152"/>
            <a:ext cx="1307592" cy="1143000"/>
          </a:xfrm>
          <a:prstGeom prst="roundRect">
            <a:avLst>
              <a:gd name="adj" fmla="val 6400"/>
            </a:avLst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76200" tIns="63500" rIns="63500" bIns="5080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NFR Requirements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291840" y="3502152"/>
            <a:ext cx="1307592" cy="1143000"/>
          </a:xfrm>
          <a:prstGeom prst="roundRect">
            <a:avLst>
              <a:gd name="adj" fmla="val 6400"/>
            </a:avLst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76200" tIns="63500" rIns="63500" bIns="5080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NFR Design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709160" y="3502152"/>
            <a:ext cx="1307592" cy="1143000"/>
          </a:xfrm>
          <a:prstGeom prst="roundRect">
            <a:avLst>
              <a:gd name="adj" fmla="val 6400"/>
            </a:avLst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76200" tIns="63500" rIns="63500" bIns="5080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Infrastructure Design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3502152"/>
            <a:ext cx="1307592" cy="1143000"/>
          </a:xfrm>
          <a:prstGeom prst="roundRect">
            <a:avLst>
              <a:gd name="adj" fmla="val 6400"/>
            </a:avLst>
          </a:prstGeom>
          <a:solidFill>
            <a:schemeClr val="accent2">
              <a:alpha val="18000"/>
            </a:schemeClr>
          </a:solidFill>
          <a:ln w="15875">
            <a:solidFill>
              <a:schemeClr val="accent2"/>
            </a:solidFill>
            <a:prstDash val="solid"/>
          </a:ln>
        </p:spPr>
        <p:txBody>
          <a:bodyPr wrap="square" lIns="76200" tIns="63500" rIns="63500" bIns="5080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Code Generation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Parte 1: plan de tareas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U1 listo · 19 pasos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452360" y="4073652"/>
            <a:ext cx="25603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7744968" y="3502152"/>
            <a:ext cx="1417320" cy="1143000"/>
          </a:xfrm>
          <a:prstGeom prst="octagon">
            <a:avLst/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ALTO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sin código: nunca «Approve Plan»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281160" y="3502152"/>
            <a:ext cx="2450592" cy="1143000"/>
          </a:xfrm>
          <a:prstGeom prst="roundRect">
            <a:avLst>
              <a:gd name="adj" fmla="val 6400"/>
            </a:avLst>
          </a:prstGeom>
          <a:solidFill>
            <a:schemeClr val="tx2">
              <a:alpha val="6000"/>
            </a:schemeClr>
          </a:solidFill>
          <a:ln w="12700">
            <a:solidFill>
              <a:schemeClr val="tx2"/>
            </a:solidFill>
          </a:ln>
        </p:spPr>
        <p:txBody>
          <a:bodyPr wrap="square" lIns="76200" tIns="101600" rIns="1016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Además en v2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Revisor adversarial y una aprobación humana por etapa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983480"/>
            <a:ext cx="11274552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51206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Contenedor aislado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Claude Code · aidlc 2.10.0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0" y="5166360"/>
            <a:ext cx="21945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dash"/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Host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mi configuración personal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995160" y="5166360"/>
            <a:ext cx="21945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Contenedor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solo AI-DLC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766560" y="5600700"/>
            <a:ext cx="210312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dash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9418320" y="5166360"/>
            <a:ext cx="21945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GitHub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todo vuelve por git push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89720" y="5600700"/>
            <a:ext cx="210312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6720840" y="6035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aislado</a:t>
            </a:r>
            <a:endParaRPr lang="en-US" sz="1000" dirty="0"/>
          </a:p>
        </p:txBody>
      </p:sp>
      <p:sp>
        <p:nvSpPr>
          <p:cNvPr id="100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INCEPTION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 pantalla de sesión y lo que la sostiene</a:t>
            </a:r>
            <a:endParaRPr lang="en-US" sz="3200" dirty="0"/>
          </a:p>
        </p:txBody>
      </p:sp>
      <p:sp>
        <p:nvSpPr>
          <p:cNvPr id="4" name="Text 2">
            <a:hlinkClick r:id="rId3"/>
          </p:cNvPr>
          <p:cNvSpPr txBox="1"/>
          <p:nvPr/>
        </p:nvSpPr>
        <p:spPr>
          <a:xfrm>
            <a:off x="457200" y="1371600"/>
            <a:ext cx="6949440" cy="4846320"/>
          </a:xfrm>
          <a:prstGeom prst="roundRect">
            <a:avLst>
              <a:gd name="adj" fmla="val 943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475488" y="1389888"/>
            <a:ext cx="6912864" cy="41148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127000" rIns="1270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M4 · Sesión   ·   Escenario v2   ·   Umbral 0,72   ·   Abierta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TRANSCRIPCIÓN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617720" y="19202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SUGERENCIAS DE REVISIÓN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35000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2688" y="2240280"/>
            <a:ext cx="3502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Turno 1 · Evaluado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sin sugerencias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2999232"/>
            <a:ext cx="3502152" cy="640080"/>
          </a:xfrm>
          <a:prstGeom prst="rect">
            <a:avLst/>
          </a:prstGeom>
          <a:solidFill>
            <a:schemeClr val="accent2">
              <a:alpha val="12000"/>
            </a:schemeClr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Turno 2 · Evaluado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«…como veinte hombres…»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867912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3758184"/>
            <a:ext cx="3502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Turno 3 · Hecho No Documentado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manual requerido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626864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2688" y="4517136"/>
            <a:ext cx="3502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Turno 4 · Procesando 00:14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consultando marco de verdad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440680"/>
            <a:ext cx="269748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76200" rIns="762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Escribe el turno…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5440680"/>
            <a:ext cx="100584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Enviar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98848" y="1920240"/>
            <a:ext cx="0" cy="411480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17720" y="224028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accent2">
              <a:alpha val="8000"/>
            </a:schemeClr>
          </a:solidFill>
          <a:ln w="15875">
            <a:solidFill>
              <a:schemeClr val="accent2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23317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Incongruencia · Turno 2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Fragmento: «veinte hombres»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Cita: «seis personas» · DOC-14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chemeClr val="accent1"/>
                </a:solidFill>
              </a:rPr>
              <a:t>▸ Ver razonamiento (CoT)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3794760"/>
            <a:ext cx="731520" cy="347472"/>
          </a:xfrm>
          <a:prstGeom prst="roundRect">
            <a:avLst>
              <a:gd name="adj" fmla="val 21053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Aceptar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550408" y="3794760"/>
            <a:ext cx="731520" cy="347472"/>
          </a:xfrm>
          <a:prstGeom prst="roundRect">
            <a:avLst>
              <a:gd name="adj" fmla="val 21053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Editar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345936" y="3794760"/>
            <a:ext cx="731520" cy="347472"/>
          </a:xfrm>
          <a:prstGeom prst="roundRect">
            <a:avLst>
              <a:gd name="adj" fmla="val 21053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Descartar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4343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La decisión es del analista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617720" y="5120640"/>
            <a:ext cx="26060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Paquete de Contexto de Traspaso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panel no modal, sin alerta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26679" y="1371600"/>
            <a:ext cx="1920240" cy="141732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44</a:t>
            </a:r>
            <a:endParaRPr lang="en-US" sz="3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historias</a:t>
            </a:r>
            <a:endParaRPr lang="en-US" sz="3200" dirty="0"/>
          </a:p>
        </p:txBody>
      </p:sp>
      <p:sp>
        <p:nvSpPr>
          <p:cNvPr id="28" name="Text 26"/>
          <p:cNvSpPr txBox="1"/>
          <p:nvPr/>
        </p:nvSpPr>
        <p:spPr>
          <a:xfrm>
            <a:off x="9829800" y="1371600"/>
            <a:ext cx="1920240" cy="141732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139</a:t>
            </a:r>
            <a:endParaRPr lang="en-US" sz="3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criterios de aceptación</a:t>
            </a:r>
            <a:endParaRPr lang="en-US" sz="3200" dirty="0"/>
          </a:p>
        </p:txBody>
      </p:sp>
      <p:sp>
        <p:nvSpPr>
          <p:cNvPr id="30" name="Text 28"/>
          <p:cNvSpPr txBox="1"/>
          <p:nvPr/>
        </p:nvSpPr>
        <p:spPr>
          <a:xfrm>
            <a:off x="7726679" y="3017520"/>
            <a:ext cx="1920240" cy="141732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9</a:t>
            </a:r>
            <a:endParaRPr lang="en-US" sz="3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decisiones de arquitectura</a:t>
            </a:r>
            <a:endParaRPr lang="en-US" sz="3200" dirty="0"/>
          </a:p>
        </p:txBody>
      </p:sp>
      <p:sp>
        <p:nvSpPr>
          <p:cNvPr id="32" name="Text 30"/>
          <p:cNvSpPr txBox="1"/>
          <p:nvPr/>
        </p:nvSpPr>
        <p:spPr>
          <a:xfrm>
            <a:off x="7726680" y="4709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REGLAS AUTONOMIA, BLOQUEANTES EN CADA ETAPA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726680" y="5056632"/>
            <a:ext cx="749808" cy="54864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01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7680960" y="564184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despliegue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540496" y="5056632"/>
            <a:ext cx="749808" cy="54864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02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8494776" y="564184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medible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354312" y="5056632"/>
            <a:ext cx="749808" cy="54864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03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9308592" y="564184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veredicto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168128" y="5056632"/>
            <a:ext cx="749808" cy="54864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04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10122408" y="564184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soberanía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981944" y="5056632"/>
            <a:ext cx="749808" cy="54864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05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10936224" y="564184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umbral</a:t>
            </a:r>
            <a:endParaRPr lang="en-US" sz="1000" dirty="0"/>
          </a:p>
        </p:txBody>
      </p:sp>
      <p:sp>
        <p:nvSpPr>
          <p:cNvPr id="100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1002" name="Text 28"/>
          <p:cNvSpPr txBox="1"/>
          <p:nvPr/>
        </p:nvSpPr>
        <p:spPr>
          <a:xfrm>
            <a:off x="9829800" y="3017520"/>
            <a:ext cx="1920240" cy="141732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16</a:t>
            </a:r>
            <a:endParaRPr lang="en-US" sz="3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contratos entre unidades</a:t>
            </a:r>
            <a:endParaRPr lang="en-US" sz="3200" dirty="0"/>
          </a:p>
        </p:txBody>
      </p:sp>
      <p:sp>
        <p:nvSpPr>
          <p:cNvPr id="43" name="Link maquetas"/>
          <p:cNvSpPr txBox="1"/>
          <p:nvPr/>
        </p:nvSpPr>
        <p:spPr>
          <a:xfrm>
            <a:off x="7726679" y="5943600"/>
            <a:ext cx="4023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300" b="1">
                <a:solidFill>
                  <a:schemeClr val="accent1"/>
                </a:solidFill>
                <a:hlinkClick r:id="rId3"/>
              </a:rPr>
              <a:t>Ver las 7 maquetas en línea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ARQUITECTURA DE COMPONENTES FUNCIONALES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Once componentes, sin ciclos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2514600" y="1325880"/>
            <a:ext cx="9235440" cy="4983480"/>
          </a:xfrm>
          <a:prstGeom prst="roundRect">
            <a:avLst>
              <a:gd name="adj" fmla="val 1101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  <p:txBody>
          <a:bodyPr wrap="square" lIns="50800" tIns="127000" rIns="127000" bIns="5080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Clúster local · ningún componente llama fuera (AUTONOMIA-04)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83280"/>
            <a:ext cx="178308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AnalystConsole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consola web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3383280"/>
            <a:ext cx="178308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ConsoleApi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fachada · autorización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40280" y="3886200"/>
            <a:ext cx="5029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240280" y="35935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REST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1691640"/>
            <a:ext cx="2148840" cy="749808"/>
          </a:xfrm>
          <a:prstGeom prst="roundRect">
            <a:avLst>
              <a:gd name="adj" fmla="val 9756"/>
            </a:avLst>
          </a:prstGeom>
          <a:solidFill>
            <a:schemeClr val="accent1">
              <a:alpha val="20000"/>
            </a:schemeClr>
          </a:solidFill>
          <a:ln w="15875">
            <a:solidFill>
              <a:schemeClr val="accent1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IdentityAccess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usuarios y roles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V="1">
            <a:off x="4526280" y="2066544"/>
            <a:ext cx="548640" cy="1819656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074920" y="2624328"/>
            <a:ext cx="2148840" cy="749808"/>
          </a:xfrm>
          <a:prstGeom prst="roundRect">
            <a:avLst>
              <a:gd name="adj" fmla="val 9756"/>
            </a:avLst>
          </a:prstGeom>
          <a:solidFill>
            <a:schemeClr val="accent1">
              <a:alpha val="20000"/>
            </a:schemeClr>
          </a:solidFill>
          <a:ln w="15875">
            <a:solidFill>
              <a:schemeClr val="accent1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TruthFrame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escenarios indexados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4526280" y="2999232"/>
            <a:ext cx="548640" cy="886968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074920" y="3557016"/>
            <a:ext cx="2148840" cy="749808"/>
          </a:xfrm>
          <a:prstGeom prst="roundRect">
            <a:avLst>
              <a:gd name="adj" fmla="val 9756"/>
            </a:avLst>
          </a:prstGeom>
          <a:solidFill>
            <a:schemeClr val="accent1">
              <a:alpha val="20000"/>
            </a:schemeClr>
          </a:solidFill>
          <a:ln w="15875">
            <a:solidFill>
              <a:schemeClr val="accent1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InterviewSession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sesión, turnos, traspaso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26280" y="3886200"/>
            <a:ext cx="548640" cy="4572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074920" y="4489704"/>
            <a:ext cx="2148840" cy="749808"/>
          </a:xfrm>
          <a:prstGeom prst="roundRect">
            <a:avLst>
              <a:gd name="adj" fmla="val 9756"/>
            </a:avLst>
          </a:prstGeom>
          <a:solidFill>
            <a:schemeClr val="accent1">
              <a:alpha val="20000"/>
            </a:schemeClr>
          </a:solidFill>
          <a:ln w="15875">
            <a:solidFill>
              <a:schemeClr val="accent1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HumanReview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sugerencias y decisiones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26280" y="3886200"/>
            <a:ext cx="548640" cy="978408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074920" y="5422392"/>
            <a:ext cx="2148840" cy="749808"/>
          </a:xfrm>
          <a:prstGeom prst="roundRect">
            <a:avLst>
              <a:gd name="adj" fmla="val 9756"/>
            </a:avLst>
          </a:prstGeom>
          <a:solidFill>
            <a:schemeClr val="accent1">
              <a:alpha val="20000"/>
            </a:schemeClr>
          </a:solidFill>
          <a:ln w="15875">
            <a:solidFill>
              <a:schemeClr val="accent1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ForensicReport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consolidación y versiones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26280" y="3886200"/>
            <a:ext cx="548640" cy="1911096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7863840" y="224028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accent2">
              <a:alpha val="20000"/>
            </a:schemeClr>
          </a:solidFill>
          <a:ln w="15875">
            <a:solidFill>
              <a:schemeClr val="accent2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SemanticEvaluation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guardia del umbral y juez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434340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accent2">
              <a:alpha val="20000"/>
            </a:schemeClr>
          </a:solidFill>
          <a:ln w="15875">
            <a:solidFill>
              <a:schemeClr val="accent2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SpeechProcessing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voz ↔ texto (SHOULD)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flipV="1">
            <a:off x="7223760" y="2697480"/>
            <a:ext cx="640080" cy="123444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23760" y="3931920"/>
            <a:ext cx="640080" cy="86868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7269480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colas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0" y="1691640"/>
            <a:ext cx="150876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dash"/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IntegrityPolicy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vocabulario prohibido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0" y="3200400"/>
            <a:ext cx="150876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dash"/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ModelGateway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puerto único a modelos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 flipV="1">
            <a:off x="9692640" y="2103120"/>
            <a:ext cx="365760" cy="41148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692640" y="2880360"/>
            <a:ext cx="365760" cy="64008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9692640" y="3794760"/>
            <a:ext cx="365760" cy="100584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7200" y="1463040"/>
            <a:ext cx="274320" cy="219456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1435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Entrada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1828800"/>
            <a:ext cx="274320" cy="219456"/>
          </a:xfrm>
          <a:prstGeom prst="roundRect">
            <a:avLst>
              <a:gd name="adj" fmla="val 16667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" y="1801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Dominio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2194560"/>
            <a:ext cx="274320" cy="219456"/>
          </a:xfrm>
          <a:prstGeom prst="roundRect">
            <a:avLst>
              <a:gd name="adj" fmla="val 16667"/>
            </a:avLst>
          </a:prstGeom>
          <a:solidFill>
            <a:schemeClr val="accent2">
              <a:alpha val="2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2167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IA asíncrona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2560320"/>
            <a:ext cx="274320" cy="21945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822960" y="2532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Transversal</a:t>
            </a:r>
            <a:endParaRPr lang="en-US" sz="1100" dirty="0"/>
          </a:p>
        </p:txBody>
      </p:sp>
      <p:sp>
        <p:nvSpPr>
          <p:cNvPr id="100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ARQUITECTURA DE SOFTWARE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Cuatro servicios en un Kubernetes local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8641080" cy="4983480"/>
          </a:xfrm>
          <a:prstGeom prst="roundRect">
            <a:avLst>
              <a:gd name="adj" fmla="val 917"/>
            </a:avLst>
          </a:prstGeom>
          <a:solidFill>
            <a:schemeClr val="bg2"/>
          </a:solidFill>
          <a:ln w="19050">
            <a:solidFill>
              <a:schemeClr val="tx2"/>
            </a:solidFill>
          </a:ln>
        </p:spPr>
        <p:txBody>
          <a:bodyPr wrap="square" lIns="76200" tIns="152400" rIns="152400" bIns="7620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Kubernetes local · NetworkPolicy: negar todo · CPU suficiente, GPU opcional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accent1">
              <a:alpha val="20000"/>
            </a:schemeClr>
          </a:solidFill>
          <a:ln w="15875">
            <a:solidFill>
              <a:schemeClr val="accent1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frontend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React + TypeScript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82880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accent1">
              <a:alpha val="20000"/>
            </a:schemeClr>
          </a:solidFill>
          <a:ln w="15875">
            <a:solidFill>
              <a:schemeClr val="accent1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session-api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monolito modular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82880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accent1">
              <a:alpha val="20000"/>
            </a:schemeClr>
          </a:solidFill>
          <a:ln w="15875">
            <a:solidFill>
              <a:schemeClr val="accent1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semantic-agent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guardia + juez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995160" y="182880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accent1">
              <a:alpha val="20000"/>
            </a:schemeClr>
          </a:solidFill>
          <a:ln w="15875">
            <a:solidFill>
              <a:schemeClr val="accent1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audio-worker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voz (SHOULD)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916936"/>
            <a:ext cx="0" cy="384048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685800" y="3337560"/>
            <a:ext cx="2926080" cy="1051560"/>
          </a:xfrm>
          <a:prstGeom prst="roundRect">
            <a:avLst>
              <a:gd name="adj" fmla="val 6957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PostgreSQL + pgvector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CloudNativePG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333756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Redis Streams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colas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333756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Volumen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reportes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4425696"/>
            <a:ext cx="0" cy="384048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685800" y="484632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accent2">
              <a:alpha val="20000"/>
            </a:schemeClr>
          </a:solidFill>
          <a:ln w="15875">
            <a:solidFill>
              <a:schemeClr val="accent2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Juez LLM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Qwen2.5-7B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484632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accent2">
              <a:alpha val="20000"/>
            </a:schemeClr>
          </a:solidFill>
          <a:ln w="15875">
            <a:solidFill>
              <a:schemeClr val="accent2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Embeddings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multilingual-e5-base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484632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accent2">
              <a:alpha val="20000"/>
            </a:schemeClr>
          </a:solidFill>
          <a:ln w="15875">
            <a:solidFill>
              <a:schemeClr val="accent2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Whisper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faster-whisper (SHOULD)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484632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dash"/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anonymizer-proxy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única salida (COULD)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1527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SERVICIOS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DATOS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544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MODELOS LOCALES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372600" y="132588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Analista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navegador · HTTPS con TLS local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 flipH="1">
            <a:off x="9098280" y="1755648"/>
            <a:ext cx="274320" cy="301752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937260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ENTREGA (GITOPS)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372600" y="2834640"/>
            <a:ext cx="23774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 con evidencia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CI en GitHub Actions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561320" y="3657600"/>
            <a:ext cx="0" cy="27432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9372600" y="3931920"/>
            <a:ext cx="23774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GHCR privado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imagen por SHA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561320" y="4754880"/>
            <a:ext cx="0" cy="27432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9372600" y="5029200"/>
            <a:ext cx="23774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Argo CD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solo lectura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 flipH="1">
            <a:off x="9098280" y="5440680"/>
            <a:ext cx="2743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0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UNIDADES Y ACTIVIDADES PRIMARIAS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Diez unidades, nueve Bolts, el texto primero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MÓDULO 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260604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P0  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GitHub y dataset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828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previas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31720"/>
            <a:ext cx="2606040" cy="457200"/>
          </a:xfrm>
          <a:prstGeom prst="roundRect">
            <a:avLst>
              <a:gd name="adj" fmla="val 12000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</a:ln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B1  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Contratos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U1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80360"/>
            <a:ext cx="2606040" cy="457200"/>
          </a:xfrm>
          <a:prstGeom prst="roundRect">
            <a:avLst>
              <a:gd name="adj" fmla="val 12000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</a:ln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B2  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Acceso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2926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U3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429000"/>
            <a:ext cx="2606040" cy="457200"/>
          </a:xfrm>
          <a:prstGeom prst="roundRect">
            <a:avLst>
              <a:gd name="adj" fmla="val 12000"/>
            </a:avLst>
          </a:prstGeom>
          <a:solidFill>
            <a:schemeClr val="accent2">
              <a:alpha val="25000"/>
            </a:schemeClr>
          </a:solidFill>
          <a:ln w="22225">
            <a:solidFill>
              <a:schemeClr val="accent2"/>
            </a:solidFill>
          </a:ln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B3  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Flujo de texto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3474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U4 · XL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977640"/>
            <a:ext cx="2606040" cy="457200"/>
          </a:xfrm>
          <a:prstGeom prst="roundRect">
            <a:avLst>
              <a:gd name="adj" fmla="val 12000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</a:ln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B4  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Plataforma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4023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U2 · hasta 7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1371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MÓDULO 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337560" y="1783080"/>
            <a:ext cx="2606040" cy="457200"/>
          </a:xfrm>
          <a:prstGeom prst="roundRect">
            <a:avLst>
              <a:gd name="adj" fmla="val 12000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</a:ln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B5  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Revisión humana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1828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U5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2331720"/>
            <a:ext cx="2606040" cy="457200"/>
          </a:xfrm>
          <a:prstGeom prst="roundRect">
            <a:avLst>
              <a:gd name="adj" fmla="val 12000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</a:ln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B6  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Reporte forense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U7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371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MÓDULO 8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1783080"/>
            <a:ext cx="2606040" cy="457200"/>
          </a:xfrm>
          <a:prstGeom prst="roundRect">
            <a:avLst>
              <a:gd name="adj" fmla="val 12000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</a:ln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B7  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Ciclo de vida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635240" y="1828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U6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1371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chemeClr val="accent4"/>
                </a:solidFill>
              </a:rPr>
              <a:t>TRAS EL CORTE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098280" y="1783080"/>
            <a:ext cx="260604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B8  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Extras del asistente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0" y="1828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U8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2331720"/>
            <a:ext cx="260604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B9  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Voz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U9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2880360"/>
            <a:ext cx="260604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dash"/>
          </a:ln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B10  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Anonimizador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0" y="2926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U10 · COULD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961120" y="1371600"/>
            <a:ext cx="0" cy="306324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8092440" y="411480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corte MUST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337560" y="34930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accent2"/>
                </a:solidFill>
              </a:rPr>
              <a:t>← primera rebanada de punta a punta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ACTIVIDADES PRIMARIAS DE CADA UNIDAD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5321808"/>
            <a:ext cx="502920" cy="50292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51560" y="507492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Pruebas guardia en rojo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743200" y="5321808"/>
            <a:ext cx="502920" cy="50292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3337560" y="507492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Capa por capa con pruebas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0" y="5321808"/>
            <a:ext cx="502920" cy="50292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5623560" y="507492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Evaluación de IA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315200" y="5321808"/>
            <a:ext cx="502920" cy="50292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7909560" y="507492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 con evidencia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9601200" y="5321808"/>
            <a:ext cx="502920" cy="50292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10195560" y="507492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Humo tras desplegar</a:t>
            </a:r>
            <a:endParaRPr lang="en-US" sz="1200" dirty="0"/>
          </a:p>
        </p:txBody>
      </p:sp>
      <p:sp>
        <p:nvSpPr>
          <p:cNvPr id="100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INFRASTRUCTURE DESIGN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Dos máquinas, un mismo chart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57200" y="1417320"/>
            <a:ext cx="6949440" cy="868680"/>
          </a:xfrm>
          <a:prstGeom prst="roundRect">
            <a:avLst>
              <a:gd name="adj" fmla="val 6957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Chart Helm  deploy/veridicus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mismas imágenes de GHCR</a:t>
            </a:r>
            <a:endParaRPr lang="en-US" sz="1200" dirty="0"/>
          </a:p>
        </p:txBody>
      </p:sp>
      <p:sp>
        <p:nvSpPr>
          <p:cNvPr id="1001" name="Shape 23"/>
          <p:cNvSpPr/>
          <p:nvPr/>
        </p:nvSpPr>
        <p:spPr>
          <a:xfrm>
            <a:off x="2148840" y="2286000"/>
            <a:ext cx="0" cy="41148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02" name="Shape 23"/>
          <p:cNvSpPr/>
          <p:nvPr/>
        </p:nvSpPr>
        <p:spPr>
          <a:xfrm>
            <a:off x="5715000" y="2286000"/>
            <a:ext cx="0" cy="41148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457200" y="2743200"/>
            <a:ext cx="3383280" cy="3291840"/>
          </a:xfrm>
          <a:prstGeom prst="roundRect">
            <a:avLst>
              <a:gd name="adj" fmla="val 6957"/>
            </a:avLst>
          </a:prstGeom>
          <a:solidFill>
            <a:schemeClr val="accent1">
              <a:alpha val="20000"/>
            </a:schemeClr>
          </a:solidFill>
          <a:ln w="15875">
            <a:solidFill>
              <a:schemeClr val="accent1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20 GiB</a:t>
            </a:r>
            <a:endParaRPr lang="en-US" sz="44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Desarrollo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Minikube · 10 CPU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todo en CPU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743200"/>
            <a:ext cx="3383280" cy="3291840"/>
          </a:xfrm>
          <a:prstGeom prst="roundRect">
            <a:avLst>
              <a:gd name="adj" fmla="val 6957"/>
            </a:avLst>
          </a:prstGeom>
          <a:solidFill>
            <a:schemeClr val="accent2">
              <a:alpha val="20000"/>
            </a:schemeClr>
          </a:solidFill>
          <a:ln w="15875">
            <a:solidFill>
              <a:schemeClr val="accent2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28 GiB</a:t>
            </a:r>
            <a:endParaRPr lang="en-US" sz="44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Demostración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Minikube · 32 GB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GPU opcional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GUARDIAS DEL CLÚSTER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1828800"/>
            <a:ext cx="3840480" cy="118872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Red: negar todo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solo DNS · Calico la hace cumplir</a:t>
            </a:r>
            <a:endParaRPr lang="en-US" sz="1200" dirty="0"/>
          </a:p>
        </p:txBody>
      </p:sp>
      <p:sp>
        <p:nvSpPr>
          <p:cNvPr id="1003" name="Text 22"/>
          <p:cNvSpPr txBox="1"/>
          <p:nvPr/>
        </p:nvSpPr>
        <p:spPr>
          <a:xfrm>
            <a:off x="7863840" y="3246120"/>
            <a:ext cx="3840480" cy="118872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Modelos de solo lectura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sha256 verificado al arrancar</a:t>
            </a:r>
            <a:endParaRPr lang="en-US" sz="1200" dirty="0"/>
          </a:p>
        </p:txBody>
      </p:sp>
      <p:sp>
        <p:nvSpPr>
          <p:cNvPr id="1004" name="Text 22"/>
          <p:cNvSpPr txBox="1"/>
          <p:nvPr/>
        </p:nvSpPr>
        <p:spPr>
          <a:xfrm>
            <a:off x="7863840" y="4663440"/>
            <a:ext cx="3840480" cy="118872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Pod Security restricted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sin root · imágenes por digest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INFRASTRUCTURE DESIGN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Del PR al clúster, siempre con un humano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57200" y="1783080"/>
            <a:ext cx="1920240" cy="155448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 con evidencia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manifiestos y charts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70432" y="1508760"/>
            <a:ext cx="502920" cy="50292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423160" y="2560320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01" name="Text 22"/>
          <p:cNvSpPr txBox="1"/>
          <p:nvPr/>
        </p:nvSpPr>
        <p:spPr>
          <a:xfrm>
            <a:off x="2788920" y="1783080"/>
            <a:ext cx="1920240" cy="155448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CI sin clúster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helm · kubeconform · Kyverno</a:t>
            </a:r>
            <a:endParaRPr lang="en-US" sz="1100" dirty="0"/>
          </a:p>
        </p:txBody>
      </p:sp>
      <p:sp>
        <p:nvSpPr>
          <p:cNvPr id="1002" name="Text 32"/>
          <p:cNvSpPr txBox="1"/>
          <p:nvPr/>
        </p:nvSpPr>
        <p:spPr>
          <a:xfrm>
            <a:off x="3502152" y="1508760"/>
            <a:ext cx="502920" cy="50292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03" name="Shape 27"/>
          <p:cNvSpPr/>
          <p:nvPr/>
        </p:nvSpPr>
        <p:spPr>
          <a:xfrm>
            <a:off x="4754880" y="2560320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5120640" y="1783080"/>
            <a:ext cx="1920240" cy="1554480"/>
          </a:xfrm>
          <a:prstGeom prst="roundRect">
            <a:avLst>
              <a:gd name="adj" fmla="val 6957"/>
            </a:avLst>
          </a:prstGeom>
          <a:solidFill>
            <a:schemeClr val="accent1">
              <a:alpha val="20000"/>
            </a:schemeClr>
          </a:solidFill>
          <a:ln w="15875">
            <a:solidFill>
              <a:schemeClr val="accent1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Fusión en main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= aprobación humana</a:t>
            </a:r>
            <a:endParaRPr lang="en-US" sz="1100" dirty="0"/>
          </a:p>
        </p:txBody>
      </p:sp>
      <p:sp>
        <p:nvSpPr>
          <p:cNvPr id="1004" name="Text 32"/>
          <p:cNvSpPr txBox="1"/>
          <p:nvPr/>
        </p:nvSpPr>
        <p:spPr>
          <a:xfrm>
            <a:off x="5833872" y="1508760"/>
            <a:ext cx="502920" cy="50292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005" name="Shape 27"/>
          <p:cNvSpPr/>
          <p:nvPr/>
        </p:nvSpPr>
        <p:spPr>
          <a:xfrm>
            <a:off x="7086600" y="2560320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06" name="Text 22"/>
          <p:cNvSpPr txBox="1"/>
          <p:nvPr/>
        </p:nvSpPr>
        <p:spPr>
          <a:xfrm>
            <a:off x="7452360" y="1783080"/>
            <a:ext cx="1920240" cy="155448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Humano aplica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Argo CD en el módulo 8</a:t>
            </a:r>
            <a:endParaRPr lang="en-US" sz="1100" dirty="0"/>
          </a:p>
        </p:txBody>
      </p:sp>
      <p:sp>
        <p:nvSpPr>
          <p:cNvPr id="1007" name="Text 32"/>
          <p:cNvSpPr txBox="1"/>
          <p:nvPr/>
        </p:nvSpPr>
        <p:spPr>
          <a:xfrm>
            <a:off x="8165592" y="1508760"/>
            <a:ext cx="502920" cy="50292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008" name="Shape 27"/>
          <p:cNvSpPr/>
          <p:nvPr/>
        </p:nvSpPr>
        <p:spPr>
          <a:xfrm>
            <a:off x="9418320" y="2560320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09" name="Text 22"/>
          <p:cNvSpPr txBox="1"/>
          <p:nvPr/>
        </p:nvSpPr>
        <p:spPr>
          <a:xfrm>
            <a:off x="9784080" y="1783080"/>
            <a:ext cx="1920240" cy="155448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Prueba de humo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si falla: git revert</a:t>
            </a:r>
            <a:endParaRPr lang="en-US" sz="1100" dirty="0"/>
          </a:p>
        </p:txBody>
      </p:sp>
      <p:sp>
        <p:nvSpPr>
          <p:cNvPr id="1010" name="Text 32"/>
          <p:cNvSpPr txBox="1"/>
          <p:nvPr/>
        </p:nvSpPr>
        <p:spPr>
          <a:xfrm>
            <a:off x="10497312" y="1508760"/>
            <a:ext cx="502920" cy="50292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069080"/>
            <a:ext cx="2377440" cy="14630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9</a:t>
            </a:r>
            <a:endParaRPr lang="en-US" sz="3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unidades con infraestructura</a:t>
            </a:r>
            <a:endParaRPr lang="en-US" sz="3200" dirty="0"/>
          </a:p>
        </p:txBody>
      </p:sp>
      <p:sp>
        <p:nvSpPr>
          <p:cNvPr id="1011" name="Text 28"/>
          <p:cNvSpPr txBox="1"/>
          <p:nvPr/>
        </p:nvSpPr>
        <p:spPr>
          <a:xfrm>
            <a:off x="3063240" y="4069080"/>
            <a:ext cx="2377440" cy="14630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6</a:t>
            </a:r>
            <a:endParaRPr lang="en-US" sz="3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puertas offline en la CI</a:t>
            </a:r>
            <a:endParaRPr lang="en-US" sz="3200" dirty="0"/>
          </a:p>
        </p:txBody>
      </p:sp>
      <p:sp>
        <p:nvSpPr>
          <p:cNvPr id="1012" name="Text 22"/>
          <p:cNvSpPr txBox="1"/>
          <p:nvPr/>
        </p:nvSpPr>
        <p:spPr>
          <a:xfrm>
            <a:off x="5760720" y="4069080"/>
            <a:ext cx="5971032" cy="14630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AUTONOMIA-01: la CI no despliega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ningún script aplica cambios al clúster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ridicus">
  <a:themeElements>
    <a:clrScheme name="Veridicus">
      <a:dk1>
        <a:srgbClr val="1F2937"/>
      </a:dk1>
      <a:lt1>
        <a:srgbClr val="FFFFFF"/>
      </a:lt1>
      <a:dk2>
        <a:srgbClr val="0E1E3A"/>
      </a:dk2>
      <a:lt2>
        <a:srgbClr val="F4F6FA"/>
      </a:lt2>
      <a:accent1>
        <a:srgbClr val="2EC4B6"/>
      </a:accent1>
      <a:accent2>
        <a:srgbClr val="FF9F1C"/>
      </a:accent2>
      <a:accent3>
        <a:srgbClr val="162A4A"/>
      </a:accent3>
      <a:accent4>
        <a:srgbClr val="5B6B82"/>
      </a:accent4>
      <a:accent5>
        <a:srgbClr val="C7D2E0"/>
      </a:accent5>
      <a:accent6>
        <a:srgbClr val="E74C3C"/>
      </a:accent6>
      <a:hlink>
        <a:srgbClr val="2EC4B6"/>
      </a:hlink>
      <a:folHlink>
        <a:srgbClr val="5B6B82"/>
      </a:folHlink>
    </a:clrScheme>
    <a:fontScheme name="Veridicu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Veridicus — avance con AI-DLC</dc:title>
  <dc:subject>PptxGenJS Presentation</dc:subject>
  <dc:creator>Felipe Reyes Palacio</dc:creator>
  <cp:lastModifiedBy>Felipe Reyes Palacio</cp:lastModifiedBy>
  <cp:revision>1</cp:revision>
  <dcterms:created xsi:type="dcterms:W3CDTF">2026-10-03T04:23:20Z</dcterms:created>
  <dcterms:modified xsi:type="dcterms:W3CDTF">2026-10-03T04:23:20Z</dcterms:modified>
</cp:coreProperties>
</file>