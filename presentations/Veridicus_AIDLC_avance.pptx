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f646b14-1b66-ee29-5d8a-125066e9c314}">
          <p14:sldIdLst>
            <p14:sldId id="256"/>
          </p14:sldIdLst>
        </p14:section>
        <p14:section name="Ejecución" id="{3eeea514-e62c-7e4d-fc75-bb0c57a453ff}">
          <p14:sldIdLst>
            <p14:sldId id="257"/>
          </p14:sldIdLst>
        </p14:section>
        <p14:section name="Inception" id="{404e366a-6c7e-77d8-153d-a443f97a1fd4}">
          <p14:sldIdLst>
            <p14:sldId id="258"/>
          </p14:sldIdLst>
        </p14:section>
        <p14:section name="Arquitectura" id="{5242045a-cc36-3199-57ae-5f2ee34c1b67}">
          <p14:sldIdLst>
            <p14:sldId id="259"/>
            <p14:sldId id="260"/>
          </p14:sldIdLst>
        </p14:section>
        <p14:section name="Implementación" id="{2d2edab1-f819-2052-557b-5bb8b78403c1}">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Veridicus es el MVP académico de mi trabajo de grado, Diálogos para la Memoria. Apoya al analista de justicia transicional: compara lo que dice el compareciente con un marco documental y, cuando encuentra una incongruencia por encima del umbral, la propone como sugerencia de revisión con su cadena de razonamiento. La decisión siempre es humana y nada sale del clúster local. Hoy muestro cómo se ha especificado con AI-DLC y en qué punto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del curso usa AI-DLC 1.0.1. Usé la línea 2 (v2.10.0), que cambia tres cosas visibles: Application Design se parte en Domain Design y Contract Design; Workflow Planning cede su lugar a Units Generation y Delivery Planning, obligatorias en el perfil classic; y aparecen Practices Discovery y Refined Mockups. Además, cada etapa pasa por un revisor adversarial y sensores de trazabilidad antes de mi aprobación. Inception corrió una vez; Construction recorre las 10 unidades etapa por etapa. Hoy estamos en Infrastructure Design. El flujo se detiene en el plan de tareas: nunca se aprueba la Parte 2, que escribe el código. Todo corre en un contenedor Docker propio para que mis skills y configuración generales de Claude no se mezclen con las de AI-DLC.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Refined Mockups dejó siete pantallas en wireframes de texto; esta es la principal, M4. A la izquierda, la transcripción con el estado de cada turno; a la derecha, las sugerencias de revisión con fragmento, cita, ID del documento y razonamiento. Aceptar o editar solo se habilita después de leer el razonamiento. Si la similitud está por debajo del umbral, no hay alerta: aparece el Paquete de Contexto de Traspaso. Detrás de la pantalla: 3 personas, 44 historias con 139 criterios de aceptación, 9 decisiones de arquitectura y 16 contratos. Las cinco reglas AUTONOMIA del PRD viven en la memoria del equipo y bloquean cualquier etapa que no las cumpla; la 03 (sin veredictos) y la 05 (umbral) son las que más moldean esta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Design definió once componentes. La consola solo habla con ConsoleApi, la fachada que autentica, autoriza y traduce errores. En verde, el dominio: identidad, marco de verdad, sesión, revisión humana y reporte forense. En naranja, la IA, que trabaja de forma asíncrona por colas: SemanticEvaluation aplica primero la guardia del umbral y solo después llama al juez; SpeechProcessing convierte voz y texto. ModelGateway es el único puerto hacia los modelos e IntegrityPolicy escanea el vocabulario prohibido, también en el reporte. El grafo no tiene ciclos: el resultado de una evaluación vuelve por la cola, no como una llamada de vuelta (ADR-002). Todo vive dentro del clúster.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once componentes se despliegan en cuatro servicios. session-api es un monolito modular con seis componentes cuyas fronteras vigila import-linter; semantic-agent evalúa con un usuario de base de datos de solo lectura; audio-worker es la voz, que es SHOULD. Datos: PostgreSQL con pgvector sobre CloudNativePG, Redis Streams para las colas y un volumen para los reportes. Los modelos corren dentro del clúster con llama.cpp y GGUF: un juez de 7B cuantizado y embeddings multilingües, todo en CPU; la GPU es solo un perfil opcional. Una NetworkPolicy niega toda salida; el anonimizador sería el único camino hacia fuera y es COULD. La entrega es GitOps: PR con evidencia, imagen en GHCR por SHA y Argo CD con una deploy key de solo lectura. La CI nunca despliega.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Generation dejó diez unidades y Delivery Planning las ordenó en nueve Bolts, alineados con los módulos 6 a 8 del curso. Antes del primer Bolt hay dos tareas previas: blindar GitHub (main protegida, CI obligatoria, GHCR privado) y preparar el Golden Dataset sintético. B1 a B3 forman la primera rebanada de punta a punta, el flujo de texto, que es la regla del equipo: la voz solo llega cuando el texto funciona. Nada de B8 en adelante empieza hasta cerrar las MUST; el anonimizador solo se construye si se decide usar un modelo externo. Cada unidad sigue las mismas actividades: primero las pruebas de las guardias en rojo, luego cada capa con sus pruebas, la evaluación de IA cuando el PR toca la IA, el PR con la salida de su comando de verificación y la prueba de humo tras desplegar. Los planes de tareas detallados por unidad salen de Code Generation Parte 1, que viene después de Infrastructure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_OSCURO">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640080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1508760"/>
            <a:ext cx="6400800" cy="1005840"/>
          </a:xfrm>
          <a:prstGeom prst="rect">
            <a:avLst/>
          </a:prstGeom>
          <a:noFill/>
          <a:ln/>
        </p:spPr>
        <p:txBody>
          <a:bodyPr wrap="square" rtlCol="0"/>
          <a:lstStyle>
            <a:lvl1pPr indent="0" marL="0">
              <a:buNone/>
              <a:defRPr lang="en-US" sz="6000" b="1" dirty="0">
                <a:solidFill>
                  <a:schemeClr val="bg1"/>
                </a:solidFill>
              </a:defRPr>
            </a:lvl1pPr>
          </a:lstStyle>
          <a:p>
            <a:pPr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92608"/>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457200" y="566928"/>
            <a:ext cx="11247120" cy="64008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4" name="Text 0"/>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Veridicus · avance con AI-DLC</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6400800" cy="365760"/>
          </a:xfrm>
          <a:prstGeom prst="rect">
            <a:avLst/>
          </a:prstGeom>
          <a:noFill/>
          <a:ln/>
        </p:spPr>
        <p:txBody>
          <a:bodyPr wrap="square" lIns="0" tIns="0" rIns="0" bIns="0" rtlCol="0"/>
          <a:lstStyle/>
          <a:p>
            <a:pPr indent="0" marL="0">
              <a:buNone/>
            </a:pPr>
            <a:r>
              <a:rPr lang="en-US" sz="1400" b="1" spc="300" kern="0" dirty="0">
                <a:solidFill>
                  <a:schemeClr val="accent1"/>
                </a:solidFill>
              </a:rPr>
              <a:t>PROYECTO DE CURSO · AVANCE CON AI-DLC</a:t>
            </a:r>
            <a:endParaRPr lang="en-US" sz="1400" dirty="0"/>
          </a:p>
        </p:txBody>
      </p:sp>
      <p:sp>
        <p:nvSpPr>
          <p:cNvPr id="3" name="Text 0"/>
          <p:cNvSpPr/>
          <p:nvPr>
            <p:ph idx="101" type="title" hasCustomPrompt="1"/>
          </p:nvPr>
        </p:nvSpPr>
        <p:spPr>
          <a:xfrm>
            <a:off x="548640" y="1508760"/>
            <a:ext cx="6400800" cy="1005840"/>
          </a:xfrm>
          <a:prstGeom prst="rect">
            <a:avLst/>
          </a:prstGeom>
          <a:noFill/>
          <a:ln/>
        </p:spPr>
        <p:txBody>
          <a:bodyPr wrap="square" lIns="0" tIns="0" rIns="0" bIns="0" rtlCol="0"/>
          <a:lstStyle/>
          <a:p>
            <a:pPr indent="0" marL="0">
              <a:buNone/>
            </a:pPr>
            <a:r>
              <a:rPr lang="en-US" sz="6000" b="1" dirty="0">
                <a:solidFill>
                  <a:schemeClr val="bg1"/>
                </a:solidFill>
              </a:rPr>
              <a:t>Veridicus</a:t>
            </a:r>
            <a:endParaRPr lang="en-US" sz="6000" dirty="0"/>
          </a:p>
        </p:txBody>
      </p:sp>
      <p:sp>
        <p:nvSpPr>
          <p:cNvPr id="4" name="Text 2"/>
          <p:cNvSpPr txBox="1"/>
          <p:nvPr/>
        </p:nvSpPr>
        <p:spPr>
          <a:xfrm>
            <a:off x="548640" y="2560320"/>
            <a:ext cx="6217920" cy="411480"/>
          </a:xfrm>
          <a:prstGeom prst="rect">
            <a:avLst/>
          </a:prstGeom>
          <a:noFill/>
          <a:ln/>
        </p:spPr>
        <p:txBody>
          <a:bodyPr wrap="square" lIns="0" tIns="0" rIns="0" bIns="0" rtlCol="0" anchor="ctr"/>
          <a:lstStyle/>
          <a:p>
            <a:pPr algn="l" indent="0" marL="0">
              <a:buNone/>
            </a:pPr>
            <a:r>
              <a:rPr lang="en-US" sz="2200" dirty="0">
                <a:solidFill>
                  <a:schemeClr val="bg1"/>
                </a:solidFill>
              </a:rPr>
              <a:t>Diálogos para la Memoria</a:t>
            </a:r>
            <a:endParaRPr lang="en-US" sz="2200" dirty="0"/>
          </a:p>
        </p:txBody>
      </p:sp>
      <p:sp>
        <p:nvSpPr>
          <p:cNvPr id="5" name="Text 3"/>
          <p:cNvSpPr txBox="1"/>
          <p:nvPr/>
        </p:nvSpPr>
        <p:spPr>
          <a:xfrm>
            <a:off x="548640" y="3154680"/>
            <a:ext cx="6035040" cy="1188720"/>
          </a:xfrm>
          <a:prstGeom prst="rect">
            <a:avLst/>
          </a:prstGeom>
          <a:noFill/>
          <a:ln/>
        </p:spPr>
        <p:txBody>
          <a:bodyPr wrap="square" lIns="0" tIns="0" rIns="0" bIns="0" rtlCol="0" anchor="t"/>
          <a:lstStyle/>
          <a:p>
            <a:pPr indent="0" marL="0">
              <a:buNone/>
            </a:pPr>
            <a:r>
              <a:rPr lang="en-US" sz="1600" dirty="0">
                <a:solidFill>
                  <a:schemeClr val="accent5"/>
                </a:solidFill>
              </a:rPr>
              <a:t>MVP que contrasta el testimonio de un compareciente con un marco documental y propone sugerencias de revisión con su razonamiento, nunca veredictos, dentro de un clúster Kubernetes local.</a:t>
            </a:r>
            <a:endParaRPr lang="en-US" sz="1600" dirty="0"/>
          </a:p>
        </p:txBody>
      </p:sp>
      <p:sp>
        <p:nvSpPr>
          <p:cNvPr id="6" name="Text 4"/>
          <p:cNvSpPr txBox="1"/>
          <p:nvPr/>
        </p:nvSpPr>
        <p:spPr>
          <a:xfrm>
            <a:off x="548640" y="5166360"/>
            <a:ext cx="6217920" cy="365760"/>
          </a:xfrm>
          <a:prstGeom prst="rect">
            <a:avLst/>
          </a:prstGeom>
          <a:noFill/>
          <a:ln/>
        </p:spPr>
        <p:txBody>
          <a:bodyPr wrap="square" lIns="0" tIns="0" rIns="0" bIns="0" rtlCol="0" anchor="ctr"/>
          <a:lstStyle/>
          <a:p>
            <a:pPr algn="l" indent="0" marL="0">
              <a:buNone/>
            </a:pPr>
            <a:r>
              <a:rPr lang="en-US" sz="1800" b="1" dirty="0">
                <a:solidFill>
                  <a:schemeClr val="bg1"/>
                </a:solidFill>
              </a:rPr>
              <a:t>Felipe Reyes Palacio</a:t>
            </a:r>
            <a:endParaRPr lang="en-US" sz="1800" dirty="0"/>
          </a:p>
        </p:txBody>
      </p:sp>
      <p:sp>
        <p:nvSpPr>
          <p:cNvPr id="7" name="Text 5"/>
          <p:cNvSpPr txBox="1"/>
          <p:nvPr/>
        </p:nvSpPr>
        <p:spPr>
          <a:xfrm>
            <a:off x="548640" y="5532120"/>
            <a:ext cx="6583680" cy="320040"/>
          </a:xfrm>
          <a:prstGeom prst="rect">
            <a:avLst/>
          </a:prstGeom>
          <a:noFill/>
          <a:ln/>
        </p:spPr>
        <p:txBody>
          <a:bodyPr wrap="square" lIns="0" tIns="0" rIns="0" bIns="0" rtlCol="0" anchor="ctr"/>
          <a:lstStyle/>
          <a:p>
            <a:pPr algn="l" indent="0" marL="0">
              <a:buNone/>
            </a:pPr>
            <a:r>
              <a:rPr lang="en-US" sz="1300" dirty="0">
                <a:solidFill>
                  <a:schemeClr val="accent5"/>
                </a:solidFill>
              </a:rPr>
              <a:t>Tópicos Especiales en Informática · 2026-3 · Pontificia Universidad Javeriana</a:t>
            </a:r>
            <a:endParaRPr lang="en-US" sz="1300" dirty="0"/>
          </a:p>
        </p:txBody>
      </p:sp>
      <p:sp>
        <p:nvSpPr>
          <p:cNvPr id="8" name="Text 6"/>
          <p:cNvSpPr txBox="1"/>
          <p:nvPr/>
        </p:nvSpPr>
        <p:spPr>
          <a:xfrm>
            <a:off x="7863840" y="1143000"/>
            <a:ext cx="777240" cy="777240"/>
          </a:xfrm>
          <a:prstGeom prst="ellipse">
            <a:avLst/>
          </a:prstGeom>
          <a:solidFill>
            <a:schemeClr val="accent1"/>
          </a:solidFill>
          <a:ln w="12700">
            <a:solidFill>
              <a:schemeClr val="accent1"/>
            </a:solid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9" name="Text 7"/>
          <p:cNvSpPr txBox="1"/>
          <p:nvPr/>
        </p:nvSpPr>
        <p:spPr>
          <a:xfrm>
            <a:off x="8823960" y="1124712"/>
            <a:ext cx="2926080" cy="822960"/>
          </a:xfrm>
          <a:prstGeom prst="rect">
            <a:avLst/>
          </a:prstGeom>
          <a:noFill/>
          <a:ln/>
        </p:spPr>
        <p:txBody>
          <a:bodyPr wrap="square" lIns="0" tIns="0" rIns="0" bIns="0" rtlCol="0" anchor="ctr"/>
          <a:lstStyle/>
          <a:p>
            <a:pPr indent="0" marL="0">
              <a:buNone/>
            </a:pPr>
            <a:r>
              <a:rPr lang="en-US" sz="1700" b="1" dirty="0">
                <a:solidFill>
                  <a:schemeClr val="bg1"/>
                </a:solidFill>
              </a:rPr>
              <a:t>Testimonio</a:t>
            </a:r>
            <a:endParaRPr lang="en-US" sz="1700" dirty="0"/>
          </a:p>
          <a:p>
            <a:pPr indent="0" marL="0">
              <a:buNone/>
            </a:pPr>
            <a:r>
              <a:rPr lang="en-US" sz="1200" dirty="0">
                <a:solidFill>
                  <a:schemeClr val="accent5"/>
                </a:solidFill>
              </a:rPr>
              <a:t>texto o voz</a:t>
            </a:r>
            <a:endParaRPr lang="en-US" sz="1700" dirty="0"/>
          </a:p>
        </p:txBody>
      </p:sp>
      <p:sp>
        <p:nvSpPr>
          <p:cNvPr id="10" name="Shape 8"/>
          <p:cNvSpPr/>
          <p:nvPr/>
        </p:nvSpPr>
        <p:spPr>
          <a:xfrm>
            <a:off x="8252460" y="1965960"/>
            <a:ext cx="0" cy="429768"/>
          </a:xfrm>
          <a:prstGeom prst="line">
            <a:avLst/>
          </a:prstGeom>
          <a:noFill/>
          <a:ln w="15875">
            <a:solidFill>
              <a:schemeClr val="accent4"/>
            </a:solidFill>
            <a:prstDash val="solid"/>
            <a:tailEnd type="triangle"/>
          </a:ln>
        </p:spPr>
      </p:sp>
      <p:sp>
        <p:nvSpPr>
          <p:cNvPr id="11" name="Text 9"/>
          <p:cNvSpPr txBox="1"/>
          <p:nvPr/>
        </p:nvSpPr>
        <p:spPr>
          <a:xfrm>
            <a:off x="7863840" y="2441448"/>
            <a:ext cx="777240" cy="777240"/>
          </a:xfrm>
          <a:prstGeom prst="ellipse">
            <a:avLst/>
          </a:prstGeom>
          <a:solidFill>
            <a:schemeClr val="accent1"/>
          </a:solidFill>
          <a:ln w="12700">
            <a:solidFill>
              <a:schemeClr val="accent1"/>
            </a:solid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12" name="Text 10"/>
          <p:cNvSpPr txBox="1"/>
          <p:nvPr/>
        </p:nvSpPr>
        <p:spPr>
          <a:xfrm>
            <a:off x="8823960" y="2423160"/>
            <a:ext cx="2926080" cy="822960"/>
          </a:xfrm>
          <a:prstGeom prst="rect">
            <a:avLst/>
          </a:prstGeom>
          <a:noFill/>
          <a:ln/>
        </p:spPr>
        <p:txBody>
          <a:bodyPr wrap="square" lIns="0" tIns="0" rIns="0" bIns="0" rtlCol="0" anchor="ctr"/>
          <a:lstStyle/>
          <a:p>
            <a:pPr indent="0" marL="0">
              <a:buNone/>
            </a:pPr>
            <a:r>
              <a:rPr lang="en-US" sz="1700" b="1" dirty="0">
                <a:solidFill>
                  <a:schemeClr val="bg1"/>
                </a:solidFill>
              </a:rPr>
              <a:t>Marco de verdad</a:t>
            </a:r>
            <a:endParaRPr lang="en-US" sz="1700" dirty="0"/>
          </a:p>
          <a:p>
            <a:pPr indent="0" marL="0">
              <a:buNone/>
            </a:pPr>
            <a:r>
              <a:rPr lang="en-US" sz="1200" dirty="0">
                <a:solidFill>
                  <a:schemeClr val="accent5"/>
                </a:solidFill>
              </a:rPr>
              <a:t>pgvector</a:t>
            </a:r>
            <a:endParaRPr lang="en-US" sz="1700" dirty="0"/>
          </a:p>
        </p:txBody>
      </p:sp>
      <p:sp>
        <p:nvSpPr>
          <p:cNvPr id="13" name="Shape 11"/>
          <p:cNvSpPr/>
          <p:nvPr/>
        </p:nvSpPr>
        <p:spPr>
          <a:xfrm>
            <a:off x="8252460" y="3264408"/>
            <a:ext cx="0" cy="429768"/>
          </a:xfrm>
          <a:prstGeom prst="line">
            <a:avLst/>
          </a:prstGeom>
          <a:noFill/>
          <a:ln w="15875">
            <a:solidFill>
              <a:schemeClr val="accent4"/>
            </a:solidFill>
            <a:prstDash val="solid"/>
            <a:tailEnd type="triangle"/>
          </a:ln>
        </p:spPr>
      </p:sp>
      <p:sp>
        <p:nvSpPr>
          <p:cNvPr id="14" name="Text 12"/>
          <p:cNvSpPr txBox="1"/>
          <p:nvPr/>
        </p:nvSpPr>
        <p:spPr>
          <a:xfrm>
            <a:off x="7863840" y="3739896"/>
            <a:ext cx="777240" cy="777240"/>
          </a:xfrm>
          <a:prstGeom prst="ellipse">
            <a:avLst/>
          </a:prstGeom>
          <a:solidFill>
            <a:schemeClr val="accent1"/>
          </a:solidFill>
          <a:ln w="12700">
            <a:solidFill>
              <a:schemeClr val="accent1"/>
            </a:solid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15" name="Text 13"/>
          <p:cNvSpPr txBox="1"/>
          <p:nvPr/>
        </p:nvSpPr>
        <p:spPr>
          <a:xfrm>
            <a:off x="8823960" y="3721608"/>
            <a:ext cx="2926080" cy="822960"/>
          </a:xfrm>
          <a:prstGeom prst="rect">
            <a:avLst/>
          </a:prstGeom>
          <a:noFill/>
          <a:ln/>
        </p:spPr>
        <p:txBody>
          <a:bodyPr wrap="square" lIns="0" tIns="0" rIns="0" bIns="0" rtlCol="0" anchor="ctr"/>
          <a:lstStyle/>
          <a:p>
            <a:pPr indent="0" marL="0">
              <a:buNone/>
            </a:pPr>
            <a:r>
              <a:rPr lang="en-US" sz="1700" b="1" dirty="0">
                <a:solidFill>
                  <a:schemeClr val="bg1"/>
                </a:solidFill>
              </a:rPr>
              <a:t>Sugerencia</a:t>
            </a:r>
            <a:endParaRPr lang="en-US" sz="1700" dirty="0"/>
          </a:p>
          <a:p>
            <a:pPr indent="0" marL="0">
              <a:buNone/>
            </a:pPr>
            <a:r>
              <a:rPr lang="en-US" sz="1200" dirty="0">
                <a:solidFill>
                  <a:schemeClr val="accent5"/>
                </a:solidFill>
              </a:rPr>
              <a:t>fragmento · cita · CoT</a:t>
            </a:r>
            <a:endParaRPr lang="en-US" sz="1700" dirty="0"/>
          </a:p>
        </p:txBody>
      </p:sp>
      <p:sp>
        <p:nvSpPr>
          <p:cNvPr id="16" name="Shape 14"/>
          <p:cNvSpPr/>
          <p:nvPr/>
        </p:nvSpPr>
        <p:spPr>
          <a:xfrm>
            <a:off x="8252460" y="4562856"/>
            <a:ext cx="0" cy="429768"/>
          </a:xfrm>
          <a:prstGeom prst="line">
            <a:avLst/>
          </a:prstGeom>
          <a:noFill/>
          <a:ln w="15875">
            <a:solidFill>
              <a:schemeClr val="accent4"/>
            </a:solidFill>
            <a:prstDash val="solid"/>
            <a:tailEnd type="triangle"/>
          </a:ln>
        </p:spPr>
      </p:sp>
      <p:sp>
        <p:nvSpPr>
          <p:cNvPr id="17" name="Text 15"/>
          <p:cNvSpPr txBox="1"/>
          <p:nvPr/>
        </p:nvSpPr>
        <p:spPr>
          <a:xfrm>
            <a:off x="7863840" y="5038344"/>
            <a:ext cx="777240" cy="777240"/>
          </a:xfrm>
          <a:prstGeom prst="ellipse">
            <a:avLst/>
          </a:prstGeom>
          <a:solidFill>
            <a:schemeClr val="accent2"/>
          </a:solidFill>
          <a:ln w="12700">
            <a:solidFill>
              <a:schemeClr val="accent2"/>
            </a:solidFill>
          </a:ln>
        </p:spPr>
        <p:txBody>
          <a:bodyPr wrap="square" lIns="0" tIns="0" rIns="0" bIns="0" rtlCol="0" anchor="ctr"/>
          <a:lstStyle/>
          <a:p>
            <a:pPr algn="ctr" indent="0" marL="0">
              <a:buNone/>
            </a:pPr>
            <a:r>
              <a:rPr lang="en-US" sz="2200" b="1" dirty="0">
                <a:solidFill>
                  <a:schemeClr val="tx2"/>
                </a:solidFill>
              </a:rPr>
              <a:t>4</a:t>
            </a:r>
            <a:endParaRPr lang="en-US" sz="2200" dirty="0"/>
          </a:p>
        </p:txBody>
      </p:sp>
      <p:sp>
        <p:nvSpPr>
          <p:cNvPr id="18" name="Text 16"/>
          <p:cNvSpPr txBox="1"/>
          <p:nvPr/>
        </p:nvSpPr>
        <p:spPr>
          <a:xfrm>
            <a:off x="8823960" y="5020056"/>
            <a:ext cx="2926080" cy="822960"/>
          </a:xfrm>
          <a:prstGeom prst="rect">
            <a:avLst/>
          </a:prstGeom>
          <a:noFill/>
          <a:ln/>
        </p:spPr>
        <p:txBody>
          <a:bodyPr wrap="square" lIns="0" tIns="0" rIns="0" bIns="0" rtlCol="0" anchor="ctr"/>
          <a:lstStyle/>
          <a:p>
            <a:pPr indent="0" marL="0">
              <a:buNone/>
            </a:pPr>
            <a:r>
              <a:rPr lang="en-US" sz="1700" b="1" dirty="0">
                <a:solidFill>
                  <a:schemeClr val="bg1"/>
                </a:solidFill>
              </a:rPr>
              <a:t>Analista decide</a:t>
            </a:r>
            <a:endParaRPr lang="en-US" sz="1700" dirty="0"/>
          </a:p>
          <a:p>
            <a:pPr indent="0" marL="0">
              <a:buNone/>
            </a:pPr>
            <a:r>
              <a:rPr lang="en-US" sz="1200" dirty="0">
                <a:solidFill>
                  <a:schemeClr val="accent5"/>
                </a:solidFill>
              </a:rPr>
              <a:t>aceptar · editar · descartar</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92608"/>
          </a:xfrm>
          <a:prstGeom prst="rect">
            <a:avLst/>
          </a:prstGeom>
          <a:noFill/>
          <a:ln/>
        </p:spPr>
        <p:txBody>
          <a:bodyPr wrap="square" lIns="0" tIns="0" rIns="0" bIns="0" rtlCol="0"/>
          <a:lstStyle/>
          <a:p>
            <a:pPr indent="0" marL="0">
              <a:buNone/>
            </a:pPr>
            <a:r>
              <a:rPr lang="en-US" sz="1200" b="1" spc="300" kern="0" dirty="0">
                <a:solidFill>
                  <a:schemeClr val="accent1"/>
                </a:solidFill>
              </a:rPr>
              <a:t>EJECUCIÓN</a:t>
            </a:r>
            <a:endParaRPr lang="en-US" sz="1200" dirty="0"/>
          </a:p>
        </p:txBody>
      </p:sp>
      <p:sp>
        <p:nvSpPr>
          <p:cNvPr id="3" name="Text 0"/>
          <p:cNvSpPr/>
          <p:nvPr>
            <p:ph idx="101" type="title" hasCustomPrompt="1"/>
          </p:nvPr>
        </p:nvSpPr>
        <p:spPr>
          <a:xfrm>
            <a:off x="457200" y="566928"/>
            <a:ext cx="11247120" cy="640080"/>
          </a:xfrm>
          <a:prstGeom prst="rect">
            <a:avLst/>
          </a:prstGeom>
          <a:noFill/>
          <a:ln/>
        </p:spPr>
        <p:txBody>
          <a:bodyPr wrap="square" lIns="0" tIns="0" rIns="0" bIns="0" rtlCol="0" anchor="t"/>
          <a:lstStyle/>
          <a:p>
            <a:pPr indent="0" marL="0">
              <a:buNone/>
            </a:pPr>
            <a:r>
              <a:rPr lang="en-US" sz="3200" b="1" dirty="0">
                <a:solidFill>
                  <a:schemeClr val="tx2"/>
                </a:solidFill>
              </a:rPr>
              <a:t>AI-DLC v2.10 en lugar de la v1.0.1 de la guía</a:t>
            </a:r>
            <a:endParaRPr lang="en-US" sz="3200" dirty="0"/>
          </a:p>
        </p:txBody>
      </p:sp>
      <p:sp>
        <p:nvSpPr>
          <p:cNvPr id="4" name="Shape 2"/>
          <p:cNvSpPr/>
          <p:nvPr/>
        </p:nvSpPr>
        <p:spPr>
          <a:xfrm>
            <a:off x="8092440" y="329184"/>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8348472" y="283464"/>
            <a:ext cx="914400" cy="274320"/>
          </a:xfrm>
          <a:prstGeom prst="rect">
            <a:avLst/>
          </a:prstGeom>
          <a:noFill/>
          <a:ln/>
        </p:spPr>
        <p:txBody>
          <a:bodyPr wrap="square" lIns="0" tIns="0" rIns="0" bIns="0" rtlCol="0" anchor="ctr"/>
          <a:lstStyle/>
          <a:p>
            <a:pPr algn="l" indent="0" marL="0">
              <a:buNone/>
            </a:pPr>
            <a:r>
              <a:rPr lang="en-US" sz="1100" dirty="0">
                <a:solidFill>
                  <a:schemeClr val="tx1"/>
                </a:solidFill>
              </a:rPr>
              <a:t>Aprobada</a:t>
            </a:r>
            <a:endParaRPr lang="en-US" sz="1100" dirty="0"/>
          </a:p>
        </p:txBody>
      </p:sp>
      <p:sp>
        <p:nvSpPr>
          <p:cNvPr id="6" name="Shape 4"/>
          <p:cNvSpPr/>
          <p:nvPr/>
        </p:nvSpPr>
        <p:spPr>
          <a:xfrm>
            <a:off x="9326880" y="329184"/>
            <a:ext cx="182880" cy="182880"/>
          </a:xfrm>
          <a:prstGeom prst="ellipse">
            <a:avLst/>
          </a:prstGeom>
          <a:solidFill>
            <a:schemeClr val="accent2"/>
          </a:solidFill>
          <a:ln w="12700">
            <a:solidFill>
              <a:schemeClr val="accent2"/>
            </a:solidFill>
            <a:prstDash val="solid"/>
          </a:ln>
        </p:spPr>
      </p:sp>
      <p:sp>
        <p:nvSpPr>
          <p:cNvPr id="7" name="Text 5"/>
          <p:cNvSpPr txBox="1"/>
          <p:nvPr/>
        </p:nvSpPr>
        <p:spPr>
          <a:xfrm>
            <a:off x="9582912" y="283464"/>
            <a:ext cx="914400" cy="274320"/>
          </a:xfrm>
          <a:prstGeom prst="rect">
            <a:avLst/>
          </a:prstGeom>
          <a:noFill/>
          <a:ln/>
        </p:spPr>
        <p:txBody>
          <a:bodyPr wrap="square" lIns="0" tIns="0" rIns="0" bIns="0" rtlCol="0" anchor="ctr"/>
          <a:lstStyle/>
          <a:p>
            <a:pPr algn="l" indent="0" marL="0">
              <a:buNone/>
            </a:pPr>
            <a:r>
              <a:rPr lang="en-US" sz="1100" dirty="0">
                <a:solidFill>
                  <a:schemeClr val="tx1"/>
                </a:solidFill>
              </a:rPr>
              <a:t>En curso</a:t>
            </a:r>
            <a:endParaRPr lang="en-US" sz="1100" dirty="0"/>
          </a:p>
        </p:txBody>
      </p:sp>
      <p:sp>
        <p:nvSpPr>
          <p:cNvPr id="8" name="Shape 6"/>
          <p:cNvSpPr/>
          <p:nvPr/>
        </p:nvSpPr>
        <p:spPr>
          <a:xfrm>
            <a:off x="10561320" y="329184"/>
            <a:ext cx="182880" cy="182880"/>
          </a:xfrm>
          <a:prstGeom prst="ellipse">
            <a:avLst/>
          </a:prstGeom>
          <a:solidFill>
            <a:schemeClr val="accent5"/>
          </a:solidFill>
          <a:ln w="12700">
            <a:solidFill>
              <a:schemeClr val="accent5"/>
            </a:solidFill>
            <a:prstDash val="solid"/>
          </a:ln>
        </p:spPr>
      </p:sp>
      <p:sp>
        <p:nvSpPr>
          <p:cNvPr id="9" name="Text 7"/>
          <p:cNvSpPr txBox="1"/>
          <p:nvPr/>
        </p:nvSpPr>
        <p:spPr>
          <a:xfrm>
            <a:off x="10817352" y="283464"/>
            <a:ext cx="914400" cy="274320"/>
          </a:xfrm>
          <a:prstGeom prst="rect">
            <a:avLst/>
          </a:prstGeom>
          <a:noFill/>
          <a:ln/>
        </p:spPr>
        <p:txBody>
          <a:bodyPr wrap="square" lIns="0" tIns="0" rIns="0" bIns="0" rtlCol="0" anchor="ctr"/>
          <a:lstStyle/>
          <a:p>
            <a:pPr algn="l" indent="0" marL="0">
              <a:buNone/>
            </a:pPr>
            <a:r>
              <a:rPr lang="en-US" sz="1100" dirty="0">
                <a:solidFill>
                  <a:schemeClr val="tx1"/>
                </a:solidFill>
              </a:rPr>
              <a:t>Pendiente</a:t>
            </a:r>
            <a:endParaRPr lang="en-US" sz="1100" dirty="0"/>
          </a:p>
        </p:txBody>
      </p:sp>
      <p:sp>
        <p:nvSpPr>
          <p:cNvPr id="10" name="Text 8"/>
          <p:cNvSpPr txBox="1"/>
          <p:nvPr/>
        </p:nvSpPr>
        <p:spPr>
          <a:xfrm>
            <a:off x="457200" y="1298448"/>
            <a:ext cx="7315200" cy="274320"/>
          </a:xfrm>
          <a:prstGeom prst="rect">
            <a:avLst/>
          </a:prstGeom>
          <a:noFill/>
          <a:ln/>
        </p:spPr>
        <p:txBody>
          <a:bodyPr wrap="square" lIns="0" tIns="0" rIns="0" bIns="0" rtlCol="0" anchor="ctr"/>
          <a:lstStyle/>
          <a:p>
            <a:pPr algn="l" indent="0" marL="0">
              <a:buNone/>
            </a:pPr>
            <a:r>
              <a:rPr lang="en-US" sz="1200" b="1" spc="100" kern="0" dirty="0">
                <a:solidFill>
                  <a:schemeClr val="tx2"/>
                </a:solidFill>
              </a:rPr>
              <a:t>INCEPTION · una vez para todo el producto</a:t>
            </a:r>
            <a:endParaRPr lang="en-US" sz="1200" dirty="0"/>
          </a:p>
        </p:txBody>
      </p:sp>
      <p:sp>
        <p:nvSpPr>
          <p:cNvPr id="11" name="Text 9"/>
          <p:cNvSpPr txBox="1"/>
          <p:nvPr/>
        </p:nvSpPr>
        <p:spPr>
          <a:xfrm>
            <a:off x="45720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Practices Discovery</a:t>
            </a:r>
            <a:endParaRPr lang="en-US" sz="1150" dirty="0"/>
          </a:p>
          <a:p>
            <a:pPr algn="ctr" indent="0" marL="0">
              <a:buNone/>
            </a:pPr>
            <a:r>
              <a:rPr lang="en-US" sz="1000" dirty="0">
                <a:solidFill>
                  <a:schemeClr val="tx1"/>
                </a:solidFill>
              </a:rPr>
              <a:t>team-practices.md</a:t>
            </a:r>
            <a:endParaRPr lang="en-US" sz="1150" dirty="0"/>
          </a:p>
        </p:txBody>
      </p:sp>
      <p:sp>
        <p:nvSpPr>
          <p:cNvPr id="12" name="Text 10"/>
          <p:cNvSpPr txBox="1"/>
          <p:nvPr/>
        </p:nvSpPr>
        <p:spPr>
          <a:xfrm>
            <a:off x="1380744" y="1563624"/>
            <a:ext cx="347472" cy="219456"/>
          </a:xfrm>
          <a:prstGeom prst="roundRect">
            <a:avLst>
              <a:gd name="adj" fmla="val 25000"/>
            </a:avLst>
          </a:prstGeom>
          <a:solidFill>
            <a:schemeClr val="tx2"/>
          </a:solidFill>
          <a:ln>
            <a:solidFill>
              <a:schemeClr val="tx2"/>
            </a:solidFill>
          </a:ln>
        </p:spPr>
        <p:txBody>
          <a:bodyPr wrap="square" lIns="0" tIns="0" rIns="0" bIns="0" rtlCol="0" anchor="ctr"/>
          <a:lstStyle/>
          <a:p>
            <a:pPr algn="ctr" indent="0" marL="0">
              <a:buNone/>
            </a:pPr>
            <a:r>
              <a:rPr lang="en-US" sz="1000" b="1" dirty="0">
                <a:solidFill>
                  <a:schemeClr val="bg1"/>
                </a:solidFill>
              </a:rPr>
              <a:t>v2</a:t>
            </a:r>
            <a:endParaRPr lang="en-US" sz="1000" dirty="0"/>
          </a:p>
        </p:txBody>
      </p:sp>
      <p:sp>
        <p:nvSpPr>
          <p:cNvPr id="13" name="Text 11"/>
          <p:cNvSpPr txBox="1"/>
          <p:nvPr/>
        </p:nvSpPr>
        <p:spPr>
          <a:xfrm>
            <a:off x="187452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Requirements Analysis</a:t>
            </a:r>
            <a:endParaRPr lang="en-US" sz="1150" dirty="0"/>
          </a:p>
          <a:p>
            <a:pPr algn="ctr" indent="0" marL="0">
              <a:buNone/>
            </a:pPr>
            <a:r>
              <a:rPr lang="en-US" sz="1000" dirty="0">
                <a:solidFill>
                  <a:schemeClr val="tx1"/>
                </a:solidFill>
              </a:rPr>
              <a:t>requirements.md</a:t>
            </a:r>
            <a:endParaRPr lang="en-US" sz="1150" dirty="0"/>
          </a:p>
        </p:txBody>
      </p:sp>
      <p:sp>
        <p:nvSpPr>
          <p:cNvPr id="14" name="Text 12"/>
          <p:cNvSpPr txBox="1"/>
          <p:nvPr/>
        </p:nvSpPr>
        <p:spPr>
          <a:xfrm>
            <a:off x="329184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User Stories</a:t>
            </a:r>
            <a:endParaRPr lang="en-US" sz="1150" dirty="0"/>
          </a:p>
          <a:p>
            <a:pPr algn="ctr" indent="0" marL="0">
              <a:buNone/>
            </a:pPr>
            <a:r>
              <a:rPr lang="en-US" sz="1000" dirty="0">
                <a:solidFill>
                  <a:schemeClr val="tx1"/>
                </a:solidFill>
              </a:rPr>
              <a:t>stories.md personas.md</a:t>
            </a:r>
            <a:endParaRPr lang="en-US" sz="1150" dirty="0"/>
          </a:p>
        </p:txBody>
      </p:sp>
      <p:sp>
        <p:nvSpPr>
          <p:cNvPr id="15" name="Text 13"/>
          <p:cNvSpPr txBox="1"/>
          <p:nvPr/>
        </p:nvSpPr>
        <p:spPr>
          <a:xfrm>
            <a:off x="470916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Refined Mockups</a:t>
            </a:r>
            <a:endParaRPr lang="en-US" sz="1150" dirty="0"/>
          </a:p>
          <a:p>
            <a:pPr algn="ctr" indent="0" marL="0">
              <a:buNone/>
            </a:pPr>
            <a:r>
              <a:rPr lang="en-US" sz="1000" dirty="0">
                <a:solidFill>
                  <a:schemeClr val="tx1"/>
                </a:solidFill>
              </a:rPr>
              <a:t>mockups.md</a:t>
            </a:r>
            <a:endParaRPr lang="en-US" sz="1150" dirty="0"/>
          </a:p>
        </p:txBody>
      </p:sp>
      <p:sp>
        <p:nvSpPr>
          <p:cNvPr id="16" name="Text 14"/>
          <p:cNvSpPr txBox="1"/>
          <p:nvPr/>
        </p:nvSpPr>
        <p:spPr>
          <a:xfrm>
            <a:off x="5632704" y="1563624"/>
            <a:ext cx="347472" cy="219456"/>
          </a:xfrm>
          <a:prstGeom prst="roundRect">
            <a:avLst>
              <a:gd name="adj" fmla="val 25000"/>
            </a:avLst>
          </a:prstGeom>
          <a:solidFill>
            <a:schemeClr val="tx2"/>
          </a:solidFill>
          <a:ln>
            <a:solidFill>
              <a:schemeClr val="tx2"/>
            </a:solidFill>
          </a:ln>
        </p:spPr>
        <p:txBody>
          <a:bodyPr wrap="square" lIns="0" tIns="0" rIns="0" bIns="0" rtlCol="0" anchor="ctr"/>
          <a:lstStyle/>
          <a:p>
            <a:pPr algn="ctr" indent="0" marL="0">
              <a:buNone/>
            </a:pPr>
            <a:r>
              <a:rPr lang="en-US" sz="1000" b="1" dirty="0">
                <a:solidFill>
                  <a:schemeClr val="bg1"/>
                </a:solidFill>
              </a:rPr>
              <a:t>v2</a:t>
            </a:r>
            <a:endParaRPr lang="en-US" sz="1000" dirty="0"/>
          </a:p>
        </p:txBody>
      </p:sp>
      <p:sp>
        <p:nvSpPr>
          <p:cNvPr id="17" name="Text 15"/>
          <p:cNvSpPr txBox="1"/>
          <p:nvPr/>
        </p:nvSpPr>
        <p:spPr>
          <a:xfrm>
            <a:off x="612648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Domain Design</a:t>
            </a:r>
            <a:endParaRPr lang="en-US" sz="1150" dirty="0"/>
          </a:p>
          <a:p>
            <a:pPr algn="ctr" indent="0" marL="0">
              <a:buNone/>
            </a:pPr>
            <a:r>
              <a:rPr lang="en-US" sz="1000" dirty="0">
                <a:solidFill>
                  <a:schemeClr val="tx1"/>
                </a:solidFill>
              </a:rPr>
              <a:t>components.md decisions.md</a:t>
            </a:r>
            <a:endParaRPr lang="en-US" sz="1150" dirty="0"/>
          </a:p>
        </p:txBody>
      </p:sp>
      <p:sp>
        <p:nvSpPr>
          <p:cNvPr id="18" name="Text 16"/>
          <p:cNvSpPr txBox="1"/>
          <p:nvPr/>
        </p:nvSpPr>
        <p:spPr>
          <a:xfrm>
            <a:off x="7050024" y="1563624"/>
            <a:ext cx="347472" cy="219456"/>
          </a:xfrm>
          <a:prstGeom prst="roundRect">
            <a:avLst>
              <a:gd name="adj" fmla="val 25000"/>
            </a:avLst>
          </a:prstGeom>
          <a:solidFill>
            <a:schemeClr val="tx2"/>
          </a:solidFill>
          <a:ln>
            <a:solidFill>
              <a:schemeClr val="tx2"/>
            </a:solidFill>
          </a:ln>
        </p:spPr>
        <p:txBody>
          <a:bodyPr wrap="square" lIns="0" tIns="0" rIns="0" bIns="0" rtlCol="0" anchor="ctr"/>
          <a:lstStyle/>
          <a:p>
            <a:pPr algn="ctr" indent="0" marL="0">
              <a:buNone/>
            </a:pPr>
            <a:r>
              <a:rPr lang="en-US" sz="1000" b="1" dirty="0">
                <a:solidFill>
                  <a:schemeClr val="bg1"/>
                </a:solidFill>
              </a:rPr>
              <a:t>v2</a:t>
            </a:r>
            <a:endParaRPr lang="en-US" sz="1000" dirty="0"/>
          </a:p>
        </p:txBody>
      </p:sp>
      <p:sp>
        <p:nvSpPr>
          <p:cNvPr id="19" name="Text 17"/>
          <p:cNvSpPr txBox="1"/>
          <p:nvPr/>
        </p:nvSpPr>
        <p:spPr>
          <a:xfrm>
            <a:off x="754380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Units Generation</a:t>
            </a:r>
            <a:endParaRPr lang="en-US" sz="1150" dirty="0"/>
          </a:p>
          <a:p>
            <a:pPr algn="ctr" indent="0" marL="0">
              <a:buNone/>
            </a:pPr>
            <a:r>
              <a:rPr lang="en-US" sz="1000" dirty="0">
                <a:solidFill>
                  <a:schemeClr val="tx1"/>
                </a:solidFill>
              </a:rPr>
              <a:t>unit-of-work.md</a:t>
            </a:r>
            <a:endParaRPr lang="en-US" sz="1150" dirty="0"/>
          </a:p>
        </p:txBody>
      </p:sp>
      <p:sp>
        <p:nvSpPr>
          <p:cNvPr id="20" name="Text 18"/>
          <p:cNvSpPr txBox="1"/>
          <p:nvPr/>
        </p:nvSpPr>
        <p:spPr>
          <a:xfrm>
            <a:off x="896112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Contract Design</a:t>
            </a:r>
            <a:endParaRPr lang="en-US" sz="1150" dirty="0"/>
          </a:p>
          <a:p>
            <a:pPr algn="ctr" indent="0" marL="0">
              <a:buNone/>
            </a:pPr>
            <a:r>
              <a:rPr lang="en-US" sz="1000" dirty="0">
                <a:solidFill>
                  <a:schemeClr val="tx1"/>
                </a:solidFill>
              </a:rPr>
              <a:t>contract-summary.md</a:t>
            </a:r>
            <a:endParaRPr lang="en-US" sz="1150" dirty="0"/>
          </a:p>
        </p:txBody>
      </p:sp>
      <p:sp>
        <p:nvSpPr>
          <p:cNvPr id="21" name="Text 19"/>
          <p:cNvSpPr txBox="1"/>
          <p:nvPr/>
        </p:nvSpPr>
        <p:spPr>
          <a:xfrm>
            <a:off x="9884664" y="1563624"/>
            <a:ext cx="347472" cy="219456"/>
          </a:xfrm>
          <a:prstGeom prst="roundRect">
            <a:avLst>
              <a:gd name="adj" fmla="val 25000"/>
            </a:avLst>
          </a:prstGeom>
          <a:solidFill>
            <a:schemeClr val="tx2"/>
          </a:solidFill>
          <a:ln>
            <a:solidFill>
              <a:schemeClr val="tx2"/>
            </a:solidFill>
          </a:ln>
        </p:spPr>
        <p:txBody>
          <a:bodyPr wrap="square" lIns="0" tIns="0" rIns="0" bIns="0" rtlCol="0" anchor="ctr"/>
          <a:lstStyle/>
          <a:p>
            <a:pPr algn="ctr" indent="0" marL="0">
              <a:buNone/>
            </a:pPr>
            <a:r>
              <a:rPr lang="en-US" sz="1000" b="1" dirty="0">
                <a:solidFill>
                  <a:schemeClr val="bg1"/>
                </a:solidFill>
              </a:rPr>
              <a:t>v2</a:t>
            </a:r>
            <a:endParaRPr lang="en-US" sz="1000" dirty="0"/>
          </a:p>
        </p:txBody>
      </p:sp>
      <p:sp>
        <p:nvSpPr>
          <p:cNvPr id="22" name="Text 20"/>
          <p:cNvSpPr txBox="1"/>
          <p:nvPr/>
        </p:nvSpPr>
        <p:spPr>
          <a:xfrm>
            <a:off x="10378440" y="1691640"/>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Delivery Planning</a:t>
            </a:r>
            <a:endParaRPr lang="en-US" sz="1150" dirty="0"/>
          </a:p>
          <a:p>
            <a:pPr algn="ctr" indent="0" marL="0">
              <a:buNone/>
            </a:pPr>
            <a:r>
              <a:rPr lang="en-US" sz="1000" dirty="0">
                <a:solidFill>
                  <a:schemeClr val="tx1"/>
                </a:solidFill>
              </a:rPr>
              <a:t>bolt-plan.md</a:t>
            </a:r>
            <a:endParaRPr lang="en-US" sz="1150" dirty="0"/>
          </a:p>
        </p:txBody>
      </p:sp>
      <p:sp>
        <p:nvSpPr>
          <p:cNvPr id="23" name="Text 21"/>
          <p:cNvSpPr txBox="1"/>
          <p:nvPr/>
        </p:nvSpPr>
        <p:spPr>
          <a:xfrm>
            <a:off x="11301984" y="1563624"/>
            <a:ext cx="347472" cy="219456"/>
          </a:xfrm>
          <a:prstGeom prst="roundRect">
            <a:avLst>
              <a:gd name="adj" fmla="val 25000"/>
            </a:avLst>
          </a:prstGeom>
          <a:solidFill>
            <a:schemeClr val="tx2"/>
          </a:solidFill>
          <a:ln>
            <a:solidFill>
              <a:schemeClr val="tx2"/>
            </a:solidFill>
          </a:ln>
        </p:spPr>
        <p:txBody>
          <a:bodyPr wrap="square" lIns="0" tIns="0" rIns="0" bIns="0" rtlCol="0" anchor="ctr"/>
          <a:lstStyle/>
          <a:p>
            <a:pPr algn="ctr" indent="0" marL="0">
              <a:buNone/>
            </a:pPr>
            <a:r>
              <a:rPr lang="en-US" sz="1000" b="1" dirty="0">
                <a:solidFill>
                  <a:schemeClr val="bg1"/>
                </a:solidFill>
              </a:rPr>
              <a:t>v2</a:t>
            </a:r>
            <a:endParaRPr lang="en-US" sz="1000" dirty="0"/>
          </a:p>
        </p:txBody>
      </p:sp>
      <p:sp>
        <p:nvSpPr>
          <p:cNvPr id="24" name="Text 22"/>
          <p:cNvSpPr txBox="1"/>
          <p:nvPr/>
        </p:nvSpPr>
        <p:spPr>
          <a:xfrm>
            <a:off x="457200" y="3108960"/>
            <a:ext cx="7315200" cy="274320"/>
          </a:xfrm>
          <a:prstGeom prst="rect">
            <a:avLst/>
          </a:prstGeom>
          <a:noFill/>
          <a:ln/>
        </p:spPr>
        <p:txBody>
          <a:bodyPr wrap="square" lIns="0" tIns="0" rIns="0" bIns="0" rtlCol="0" anchor="ctr"/>
          <a:lstStyle/>
          <a:p>
            <a:pPr algn="l" indent="0" marL="0">
              <a:buNone/>
            </a:pPr>
            <a:r>
              <a:rPr lang="en-US" sz="1200" b="1" spc="100" kern="0" dirty="0">
                <a:solidFill>
                  <a:schemeClr val="tx2"/>
                </a:solidFill>
              </a:rPr>
              <a:t>CONSTRUCTION · etapa por etapa, sobre las 10 unidades</a:t>
            </a:r>
            <a:endParaRPr lang="en-US" sz="1200" dirty="0"/>
          </a:p>
        </p:txBody>
      </p:sp>
      <p:sp>
        <p:nvSpPr>
          <p:cNvPr id="25" name="Text 23"/>
          <p:cNvSpPr txBox="1"/>
          <p:nvPr/>
        </p:nvSpPr>
        <p:spPr>
          <a:xfrm>
            <a:off x="457200" y="3502152"/>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Functional Design</a:t>
            </a:r>
            <a:endParaRPr lang="en-US" sz="1150" dirty="0"/>
          </a:p>
          <a:p>
            <a:pPr algn="ctr" indent="0" marL="0">
              <a:buNone/>
            </a:pPr>
            <a:r>
              <a:rPr lang="en-US" sz="1000" dirty="0">
                <a:solidFill>
                  <a:schemeClr val="tx1"/>
                </a:solidFill>
              </a:rPr>
              <a:t>functional-spec.md</a:t>
            </a:r>
            <a:endParaRPr lang="en-US" sz="1150" dirty="0"/>
          </a:p>
        </p:txBody>
      </p:sp>
      <p:sp>
        <p:nvSpPr>
          <p:cNvPr id="26" name="Text 24"/>
          <p:cNvSpPr txBox="1"/>
          <p:nvPr/>
        </p:nvSpPr>
        <p:spPr>
          <a:xfrm>
            <a:off x="1874520" y="3502152"/>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NFR Requirements</a:t>
            </a:r>
            <a:endParaRPr lang="en-US" sz="1150" dirty="0"/>
          </a:p>
          <a:p>
            <a:pPr algn="ctr" indent="0" marL="0">
              <a:buNone/>
            </a:pPr>
            <a:r>
              <a:rPr lang="en-US" sz="1000" dirty="0">
                <a:solidFill>
                  <a:schemeClr val="tx1"/>
                </a:solidFill>
              </a:rPr>
              <a:t>tech-stack-decisions.md</a:t>
            </a:r>
            <a:endParaRPr lang="en-US" sz="1150" dirty="0"/>
          </a:p>
        </p:txBody>
      </p:sp>
      <p:sp>
        <p:nvSpPr>
          <p:cNvPr id="27" name="Text 25"/>
          <p:cNvSpPr txBox="1"/>
          <p:nvPr/>
        </p:nvSpPr>
        <p:spPr>
          <a:xfrm>
            <a:off x="3291840" y="3502152"/>
            <a:ext cx="1307592" cy="1143000"/>
          </a:xfrm>
          <a:prstGeom prst="roundRect">
            <a:avLst>
              <a:gd name="adj" fmla="val 6400"/>
            </a:avLst>
          </a:prstGeom>
          <a:solidFill>
            <a:schemeClr val="accent1">
              <a:alpha val="18000"/>
            </a:schemeClr>
          </a:solidFill>
          <a:ln w="15875">
            <a:solidFill>
              <a:schemeClr val="accent1"/>
            </a:solidFill>
            <a:prstDash val="solid"/>
          </a:ln>
        </p:spPr>
        <p:txBody>
          <a:bodyPr wrap="square" lIns="76200" tIns="63500" rIns="63500" bIns="50800" rtlCol="0" anchor="t"/>
          <a:lstStyle/>
          <a:p>
            <a:pPr algn="ctr" indent="0" marL="0">
              <a:buNone/>
            </a:pPr>
            <a:r>
              <a:rPr lang="en-US" sz="1150" b="1" dirty="0">
                <a:solidFill>
                  <a:schemeClr val="tx2"/>
                </a:solidFill>
              </a:rPr>
              <a:t>NFR Design</a:t>
            </a:r>
            <a:endParaRPr lang="en-US" sz="1150" dirty="0"/>
          </a:p>
          <a:p>
            <a:pPr algn="ctr" indent="0" marL="0">
              <a:buNone/>
            </a:pPr>
            <a:r>
              <a:rPr lang="en-US" sz="1000" dirty="0">
                <a:solidFill>
                  <a:schemeClr val="tx1"/>
                </a:solidFill>
              </a:rPr>
              <a:t>logical-components.md</a:t>
            </a:r>
            <a:endParaRPr lang="en-US" sz="1150" dirty="0"/>
          </a:p>
        </p:txBody>
      </p:sp>
      <p:sp>
        <p:nvSpPr>
          <p:cNvPr id="28" name="Text 26"/>
          <p:cNvSpPr txBox="1"/>
          <p:nvPr/>
        </p:nvSpPr>
        <p:spPr>
          <a:xfrm>
            <a:off x="4709160" y="3502152"/>
            <a:ext cx="1307592" cy="1143000"/>
          </a:xfrm>
          <a:prstGeom prst="roundRect">
            <a:avLst>
              <a:gd name="adj" fmla="val 6400"/>
            </a:avLst>
          </a:prstGeom>
          <a:solidFill>
            <a:schemeClr val="accent2">
              <a:alpha val="18000"/>
            </a:schemeClr>
          </a:solidFill>
          <a:ln w="15875">
            <a:solidFill>
              <a:schemeClr val="accent2"/>
            </a:solidFill>
            <a:prstDash val="solid"/>
          </a:ln>
        </p:spPr>
        <p:txBody>
          <a:bodyPr wrap="square" lIns="76200" tIns="63500" rIns="63500" bIns="50800" rtlCol="0" anchor="t"/>
          <a:lstStyle/>
          <a:p>
            <a:pPr algn="ctr" indent="0" marL="0">
              <a:buNone/>
            </a:pPr>
            <a:r>
              <a:rPr lang="en-US" sz="1150" b="1" dirty="0">
                <a:solidFill>
                  <a:schemeClr val="tx2"/>
                </a:solidFill>
              </a:rPr>
              <a:t>Infrastructure Design</a:t>
            </a:r>
            <a:endParaRPr lang="en-US" sz="1150" dirty="0"/>
          </a:p>
          <a:p>
            <a:pPr algn="ctr" indent="0" marL="0">
              <a:buNone/>
            </a:pPr>
            <a:r>
              <a:rPr lang="en-US" sz="1000" dirty="0">
                <a:solidFill>
                  <a:schemeClr val="tx1"/>
                </a:solidFill>
              </a:rPr>
              <a:t>infrastructure-specification.md</a:t>
            </a:r>
            <a:endParaRPr lang="en-US" sz="1150" dirty="0"/>
          </a:p>
        </p:txBody>
      </p:sp>
      <p:sp>
        <p:nvSpPr>
          <p:cNvPr id="29" name="Text 27"/>
          <p:cNvSpPr txBox="1"/>
          <p:nvPr/>
        </p:nvSpPr>
        <p:spPr>
          <a:xfrm>
            <a:off x="6126480" y="3502152"/>
            <a:ext cx="1307592" cy="1143000"/>
          </a:xfrm>
          <a:prstGeom prst="roundRect">
            <a:avLst>
              <a:gd name="adj" fmla="val 6400"/>
            </a:avLst>
          </a:prstGeom>
          <a:solidFill>
            <a:schemeClr val="accent5">
              <a:alpha val="40000"/>
            </a:schemeClr>
          </a:solidFill>
          <a:ln w="15875">
            <a:solidFill>
              <a:schemeClr val="accent5"/>
            </a:solidFill>
            <a:prstDash val="dash"/>
          </a:ln>
        </p:spPr>
        <p:txBody>
          <a:bodyPr wrap="square" lIns="76200" tIns="63500" rIns="63500" bIns="50800" rtlCol="0" anchor="t"/>
          <a:lstStyle/>
          <a:p>
            <a:pPr algn="ctr" indent="0" marL="0">
              <a:buNone/>
            </a:pPr>
            <a:r>
              <a:rPr lang="en-US" sz="1150" b="1" dirty="0">
                <a:solidFill>
                  <a:schemeClr val="tx2"/>
                </a:solidFill>
              </a:rPr>
              <a:t>Code Generation · Parte 1</a:t>
            </a:r>
            <a:endParaRPr lang="en-US" sz="1150" dirty="0"/>
          </a:p>
          <a:p>
            <a:pPr algn="ctr" indent="0" marL="0">
              <a:buNone/>
            </a:pPr>
            <a:r>
              <a:rPr lang="en-US" sz="1000" dirty="0">
                <a:solidFill>
                  <a:schemeClr val="tx1"/>
                </a:solidFill>
              </a:rPr>
              <a:t>plan de tareas</a:t>
            </a:r>
            <a:endParaRPr lang="en-US" sz="1150" dirty="0"/>
          </a:p>
        </p:txBody>
      </p:sp>
      <p:sp>
        <p:nvSpPr>
          <p:cNvPr id="30" name="Shape 28"/>
          <p:cNvSpPr/>
          <p:nvPr/>
        </p:nvSpPr>
        <p:spPr>
          <a:xfrm>
            <a:off x="7452360" y="4073652"/>
            <a:ext cx="256032" cy="0"/>
          </a:xfrm>
          <a:prstGeom prst="line">
            <a:avLst/>
          </a:prstGeom>
          <a:noFill/>
          <a:ln w="19050">
            <a:solidFill>
              <a:schemeClr val="accent6"/>
            </a:solidFill>
            <a:prstDash val="solid"/>
            <a:tailEnd type="triangle"/>
          </a:ln>
        </p:spPr>
      </p:sp>
      <p:sp>
        <p:nvSpPr>
          <p:cNvPr id="31" name="Text 29"/>
          <p:cNvSpPr txBox="1"/>
          <p:nvPr/>
        </p:nvSpPr>
        <p:spPr>
          <a:xfrm>
            <a:off x="7744968" y="3502152"/>
            <a:ext cx="1417320" cy="1143000"/>
          </a:xfrm>
          <a:prstGeom prst="octagon">
            <a:avLst/>
          </a:prstGeom>
          <a:solidFill>
            <a:schemeClr val="accent6">
              <a:alpha val="12000"/>
            </a:schemeClr>
          </a:solidFill>
          <a:ln w="19050">
            <a:solidFill>
              <a:schemeClr val="accent6"/>
            </a:solidFill>
          </a:ln>
        </p:spPr>
        <p:txBody>
          <a:bodyPr wrap="square" lIns="38100" tIns="38100" rIns="38100" bIns="38100" rtlCol="0" anchor="ctr"/>
          <a:lstStyle/>
          <a:p>
            <a:pPr algn="ctr" indent="0" marL="0">
              <a:buNone/>
            </a:pPr>
            <a:r>
              <a:rPr lang="en-US" sz="1400" b="1" dirty="0">
                <a:solidFill>
                  <a:schemeClr val="accent6"/>
                </a:solidFill>
              </a:rPr>
              <a:t>ALTO</a:t>
            </a:r>
            <a:endParaRPr lang="en-US" sz="1400" dirty="0"/>
          </a:p>
          <a:p>
            <a:pPr algn="ctr" indent="0" marL="0">
              <a:buNone/>
            </a:pPr>
            <a:r>
              <a:rPr lang="en-US" sz="1000" dirty="0">
                <a:solidFill>
                  <a:schemeClr val="tx1"/>
                </a:solidFill>
              </a:rPr>
              <a:t>sin código: nunca «Approve Plan»</a:t>
            </a:r>
            <a:endParaRPr lang="en-US" sz="1400" dirty="0"/>
          </a:p>
        </p:txBody>
      </p:sp>
      <p:sp>
        <p:nvSpPr>
          <p:cNvPr id="32" name="Text 30"/>
          <p:cNvSpPr txBox="1"/>
          <p:nvPr/>
        </p:nvSpPr>
        <p:spPr>
          <a:xfrm>
            <a:off x="9281160" y="3502152"/>
            <a:ext cx="2450592" cy="1143000"/>
          </a:xfrm>
          <a:prstGeom prst="roundRect">
            <a:avLst>
              <a:gd name="adj" fmla="val 6400"/>
            </a:avLst>
          </a:prstGeom>
          <a:solidFill>
            <a:schemeClr val="tx2">
              <a:alpha val="6000"/>
            </a:schemeClr>
          </a:solidFill>
          <a:ln w="12700">
            <a:solidFill>
              <a:schemeClr val="tx2"/>
            </a:solidFill>
          </a:ln>
        </p:spPr>
        <p:txBody>
          <a:bodyPr wrap="square" lIns="76200" tIns="101600" rIns="101600" bIns="76200" rtlCol="0" anchor="ctr"/>
          <a:lstStyle/>
          <a:p>
            <a:pPr algn="l" indent="0" marL="0">
              <a:buNone/>
            </a:pPr>
            <a:r>
              <a:rPr lang="en-US" sz="1200" b="1" dirty="0">
                <a:solidFill>
                  <a:schemeClr val="tx2"/>
                </a:solidFill>
              </a:rPr>
              <a:t>Además en v2</a:t>
            </a:r>
            <a:endParaRPr lang="en-US" sz="1200" dirty="0"/>
          </a:p>
          <a:p>
            <a:pPr algn="l" indent="0" marL="0">
              <a:buNone/>
            </a:pPr>
            <a:r>
              <a:rPr lang="en-US" sz="1000" dirty="0">
                <a:solidFill>
                  <a:schemeClr val="tx1"/>
                </a:solidFill>
              </a:rPr>
              <a:t>Revisores adversariales y sensores de trazabilidad; una aprobación humana por etapa</a:t>
            </a:r>
            <a:endParaRPr lang="en-US" sz="1200" dirty="0"/>
          </a:p>
        </p:txBody>
      </p:sp>
      <p:sp>
        <p:nvSpPr>
          <p:cNvPr id="33" name="Text 31"/>
          <p:cNvSpPr txBox="1"/>
          <p:nvPr/>
        </p:nvSpPr>
        <p:spPr>
          <a:xfrm>
            <a:off x="457200" y="4983480"/>
            <a:ext cx="11274552" cy="1234440"/>
          </a:xfrm>
          <a:prstGeom prst="roundRect">
            <a:avLst>
              <a:gd name="adj" fmla="val 5926"/>
            </a:avLst>
          </a:prstGeom>
          <a:solidFill>
            <a:schemeClr val="bg2"/>
          </a:solidFill>
          <a:ln w="12700">
            <a:solidFill>
              <a:schemeClr val="accent5"/>
            </a:solidFill>
          </a:ln>
        </p:spPr>
        <p:txBody>
          <a:bodyPr wrap="square" lIns="50800" tIns="76200" rIns="76200" bIns="50800" rtlCol="0" anchor="ctr"/>
          <a:lstStyle/>
          <a:p>
            <a:pPr algn="ctr" indent="0" marL="0">
              <a:buNone/>
            </a:pPr>
            <a:endParaRPr lang="en-US" dirty="0"/>
          </a:p>
        </p:txBody>
      </p:sp>
      <p:sp>
        <p:nvSpPr>
          <p:cNvPr id="34" name="Text 32"/>
          <p:cNvSpPr txBox="1"/>
          <p:nvPr/>
        </p:nvSpPr>
        <p:spPr>
          <a:xfrm>
            <a:off x="685800" y="5120640"/>
            <a:ext cx="3840480" cy="960120"/>
          </a:xfrm>
          <a:prstGeom prst="rect">
            <a:avLst/>
          </a:prstGeom>
          <a:noFill/>
          <a:ln/>
        </p:spPr>
        <p:txBody>
          <a:bodyPr wrap="square" lIns="0" tIns="0" rIns="0" bIns="0" rtlCol="0" anchor="ctr"/>
          <a:lstStyle/>
          <a:p>
            <a:pPr indent="0" marL="0">
              <a:buNone/>
            </a:pPr>
            <a:r>
              <a:rPr lang="en-US" sz="1600" b="1" dirty="0">
                <a:solidFill>
                  <a:schemeClr val="tx2"/>
                </a:solidFill>
              </a:rPr>
              <a:t>Contenedor tai-aidlc</a:t>
            </a:r>
            <a:endParaRPr lang="en-US" sz="1600" dirty="0"/>
          </a:p>
          <a:p>
            <a:pPr indent="0" marL="0">
              <a:buNone/>
            </a:pPr>
            <a:r>
              <a:rPr lang="en-US" sz="1200" dirty="0">
                <a:solidFill>
                  <a:schemeClr val="accent4"/>
                </a:solidFill>
              </a:rPr>
              <a:t>Ubuntu 24.04 · Claude Code · aidlc 2.10.0</a:t>
            </a:r>
            <a:endParaRPr lang="en-US" sz="1600" dirty="0"/>
          </a:p>
        </p:txBody>
      </p:sp>
      <p:sp>
        <p:nvSpPr>
          <p:cNvPr id="35" name="Text 33"/>
          <p:cNvSpPr txBox="1"/>
          <p:nvPr/>
        </p:nvSpPr>
        <p:spPr>
          <a:xfrm>
            <a:off x="4572000" y="5166360"/>
            <a:ext cx="2194560" cy="868680"/>
          </a:xfrm>
          <a:prstGeom prst="roundRect">
            <a:avLst>
              <a:gd name="adj" fmla="val 8421"/>
            </a:avLst>
          </a:prstGeom>
          <a:solidFill>
            <a:schemeClr val="bg1"/>
          </a:solidFill>
          <a:ln w="15875">
            <a:solidFill>
              <a:schemeClr val="accent4"/>
            </a:solidFill>
            <a:prstDash val="dash"/>
          </a:ln>
        </p:spPr>
        <p:txBody>
          <a:bodyPr wrap="square" lIns="50800" tIns="76200" rIns="76200" bIns="50800" rtlCol="0" anchor="ctr"/>
          <a:lstStyle/>
          <a:p>
            <a:pPr algn="ctr" indent="0" marL="0">
              <a:buNone/>
            </a:pPr>
            <a:r>
              <a:rPr lang="en-US" sz="1200" b="1" dirty="0">
                <a:solidFill>
                  <a:schemeClr val="tx2"/>
                </a:solidFill>
              </a:rPr>
              <a:t>Host</a:t>
            </a:r>
            <a:endParaRPr lang="en-US" sz="1200" dirty="0"/>
          </a:p>
          <a:p>
            <a:pPr algn="ctr" indent="0" marL="0">
              <a:buNone/>
            </a:pPr>
            <a:r>
              <a:rPr lang="en-US" sz="1000" dirty="0">
                <a:solidFill>
                  <a:schemeClr val="tx1"/>
                </a:solidFill>
              </a:rPr>
              <a:t>mis skills y configuración generales</a:t>
            </a:r>
            <a:endParaRPr lang="en-US" sz="1200" dirty="0"/>
          </a:p>
        </p:txBody>
      </p:sp>
      <p:sp>
        <p:nvSpPr>
          <p:cNvPr id="36" name="Text 34"/>
          <p:cNvSpPr txBox="1"/>
          <p:nvPr/>
        </p:nvSpPr>
        <p:spPr>
          <a:xfrm>
            <a:off x="6995160" y="5166360"/>
            <a:ext cx="2194560" cy="868680"/>
          </a:xfrm>
          <a:prstGeom prst="roundRect">
            <a:avLst>
              <a:gd name="adj" fmla="val 8421"/>
            </a:avLst>
          </a:prstGeom>
          <a:solidFill>
            <a:schemeClr val="bg1"/>
          </a:solidFill>
          <a:ln w="15875">
            <a:solidFill>
              <a:schemeClr val="accent1"/>
            </a:solidFill>
            <a:prstDash val="solid"/>
          </a:ln>
        </p:spPr>
        <p:txBody>
          <a:bodyPr wrap="square" lIns="50800" tIns="76200" rIns="76200" bIns="50800" rtlCol="0" anchor="ctr"/>
          <a:lstStyle/>
          <a:p>
            <a:pPr algn="ctr" indent="0" marL="0">
              <a:buNone/>
            </a:pPr>
            <a:r>
              <a:rPr lang="en-US" sz="1200" b="1" dirty="0">
                <a:solidFill>
                  <a:schemeClr val="tx2"/>
                </a:solidFill>
              </a:rPr>
              <a:t>Contenedor</a:t>
            </a:r>
            <a:endParaRPr lang="en-US" sz="1200" dirty="0"/>
          </a:p>
          <a:p>
            <a:pPr algn="ctr" indent="0" marL="0">
              <a:buNone/>
            </a:pPr>
            <a:r>
              <a:rPr lang="en-US" sz="1000" dirty="0">
                <a:solidFill>
                  <a:schemeClr val="tx1"/>
                </a:solidFill>
              </a:rPr>
              <a:t>solo AI-DLC: skills, hooks y memoria del proyecto</a:t>
            </a:r>
            <a:endParaRPr lang="en-US" sz="1200" dirty="0"/>
          </a:p>
        </p:txBody>
      </p:sp>
      <p:sp>
        <p:nvSpPr>
          <p:cNvPr id="37" name="Shape 35"/>
          <p:cNvSpPr/>
          <p:nvPr/>
        </p:nvSpPr>
        <p:spPr>
          <a:xfrm>
            <a:off x="6766560" y="5600700"/>
            <a:ext cx="210312" cy="0"/>
          </a:xfrm>
          <a:prstGeom prst="line">
            <a:avLst/>
          </a:prstGeom>
          <a:noFill/>
          <a:ln w="15875">
            <a:solidFill>
              <a:schemeClr val="accent4"/>
            </a:solidFill>
            <a:prstDash val="dash"/>
            <a:tailEnd type="triangle"/>
          </a:ln>
        </p:spPr>
      </p:sp>
      <p:sp>
        <p:nvSpPr>
          <p:cNvPr id="38" name="Text 36"/>
          <p:cNvSpPr txBox="1"/>
          <p:nvPr/>
        </p:nvSpPr>
        <p:spPr>
          <a:xfrm>
            <a:off x="9418320" y="5166360"/>
            <a:ext cx="2194560" cy="868680"/>
          </a:xfrm>
          <a:prstGeom prst="roundRect">
            <a:avLst>
              <a:gd name="adj" fmla="val 8421"/>
            </a:avLst>
          </a:prstGeom>
          <a:solidFill>
            <a:schemeClr val="bg1"/>
          </a:solidFill>
          <a:ln w="15875">
            <a:solidFill>
              <a:schemeClr val="accent3"/>
            </a:solidFill>
            <a:prstDash val="solid"/>
          </a:ln>
        </p:spPr>
        <p:txBody>
          <a:bodyPr wrap="square" lIns="50800" tIns="76200" rIns="76200" bIns="50800" rtlCol="0" anchor="ctr"/>
          <a:lstStyle/>
          <a:p>
            <a:pPr algn="ctr" indent="0" marL="0">
              <a:buNone/>
            </a:pPr>
            <a:r>
              <a:rPr lang="en-US" sz="1200" b="1" dirty="0">
                <a:solidFill>
                  <a:schemeClr val="tx2"/>
                </a:solidFill>
              </a:rPr>
              <a:t>GitHub</a:t>
            </a:r>
            <a:endParaRPr lang="en-US" sz="1200" dirty="0"/>
          </a:p>
          <a:p>
            <a:pPr algn="ctr" indent="0" marL="0">
              <a:buNone/>
            </a:pPr>
            <a:r>
              <a:rPr lang="en-US" sz="1000" dirty="0">
                <a:solidFill>
                  <a:schemeClr val="tx1"/>
                </a:solidFill>
              </a:rPr>
              <a:t>el trabajo vuelve solo por git push</a:t>
            </a:r>
            <a:endParaRPr lang="en-US" sz="1200" dirty="0"/>
          </a:p>
        </p:txBody>
      </p:sp>
      <p:sp>
        <p:nvSpPr>
          <p:cNvPr id="39" name="Shape 37"/>
          <p:cNvSpPr/>
          <p:nvPr/>
        </p:nvSpPr>
        <p:spPr>
          <a:xfrm>
            <a:off x="9189720" y="5600700"/>
            <a:ext cx="210312" cy="0"/>
          </a:xfrm>
          <a:prstGeom prst="line">
            <a:avLst/>
          </a:prstGeom>
          <a:noFill/>
          <a:ln w="15875">
            <a:solidFill>
              <a:schemeClr val="accent4"/>
            </a:solidFill>
            <a:prstDash val="solid"/>
            <a:tailEnd type="triangle"/>
          </a:ln>
        </p:spPr>
      </p:sp>
      <p:sp>
        <p:nvSpPr>
          <p:cNvPr id="40" name="Text 38"/>
          <p:cNvSpPr txBox="1"/>
          <p:nvPr/>
        </p:nvSpPr>
        <p:spPr>
          <a:xfrm>
            <a:off x="6720840" y="6035040"/>
            <a:ext cx="685800" cy="182880"/>
          </a:xfrm>
          <a:prstGeom prst="rect">
            <a:avLst/>
          </a:prstGeom>
          <a:noFill/>
          <a:ln/>
        </p:spPr>
        <p:txBody>
          <a:bodyPr wrap="square" lIns="0" tIns="0" rIns="0" bIns="0" rtlCol="0" anchor="ctr"/>
          <a:lstStyle/>
          <a:p>
            <a:pPr algn="ctr" indent="0" marL="0">
              <a:buNone/>
            </a:pPr>
            <a:r>
              <a:rPr lang="en-US" sz="1000" i="1" dirty="0">
                <a:solidFill>
                  <a:schemeClr val="accent4"/>
                </a:solidFill>
              </a:rPr>
              <a:t>aislado</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92608"/>
          </a:xfrm>
          <a:prstGeom prst="rect">
            <a:avLst/>
          </a:prstGeom>
          <a:noFill/>
          <a:ln/>
        </p:spPr>
        <p:txBody>
          <a:bodyPr wrap="square" lIns="0" tIns="0" rIns="0" bIns="0" rtlCol="0"/>
          <a:lstStyle/>
          <a:p>
            <a:pPr indent="0" marL="0">
              <a:buNone/>
            </a:pPr>
            <a:r>
              <a:rPr lang="en-US" sz="1200" b="1" spc="300" kern="0" dirty="0">
                <a:solidFill>
                  <a:schemeClr val="accent1"/>
                </a:solidFill>
              </a:rPr>
              <a:t>INCEPTION</a:t>
            </a:r>
            <a:endParaRPr lang="en-US" sz="1200" dirty="0"/>
          </a:p>
        </p:txBody>
      </p:sp>
      <p:sp>
        <p:nvSpPr>
          <p:cNvPr id="3" name="Text 0"/>
          <p:cNvSpPr/>
          <p:nvPr>
            <p:ph idx="101" type="title" hasCustomPrompt="1"/>
          </p:nvPr>
        </p:nvSpPr>
        <p:spPr>
          <a:xfrm>
            <a:off x="457200" y="566928"/>
            <a:ext cx="11247120" cy="640080"/>
          </a:xfrm>
          <a:prstGeom prst="rect">
            <a:avLst/>
          </a:prstGeom>
          <a:noFill/>
          <a:ln/>
        </p:spPr>
        <p:txBody>
          <a:bodyPr wrap="square" lIns="0" tIns="0" rIns="0" bIns="0" rtlCol="0" anchor="t"/>
          <a:lstStyle/>
          <a:p>
            <a:pPr indent="0" marL="0">
              <a:buNone/>
            </a:pPr>
            <a:r>
              <a:rPr lang="en-US" sz="3200" b="1" dirty="0">
                <a:solidFill>
                  <a:schemeClr val="tx2"/>
                </a:solidFill>
              </a:rPr>
              <a:t>La pantalla de sesión y lo que la sostiene</a:t>
            </a:r>
            <a:endParaRPr lang="en-US" sz="3200" dirty="0"/>
          </a:p>
        </p:txBody>
      </p:sp>
      <p:sp>
        <p:nvSpPr>
          <p:cNvPr id="4" name="Text 2"/>
          <p:cNvSpPr txBox="1"/>
          <p:nvPr/>
        </p:nvSpPr>
        <p:spPr>
          <a:xfrm>
            <a:off x="457200" y="1371600"/>
            <a:ext cx="6949440" cy="4846320"/>
          </a:xfrm>
          <a:prstGeom prst="roundRect">
            <a:avLst>
              <a:gd name="adj" fmla="val 943"/>
            </a:avLst>
          </a:prstGeom>
          <a:solidFill>
            <a:schemeClr val="bg1"/>
          </a:solidFill>
          <a:ln w="19050">
            <a:solidFill>
              <a:schemeClr val="tx2"/>
            </a:solidFill>
          </a:ln>
        </p:spPr>
        <p:txBody>
          <a:bodyPr wrap="square" lIns="50800" tIns="76200" rIns="76200" bIns="50800" rtlCol="0" anchor="ctr"/>
          <a:lstStyle/>
          <a:p>
            <a:pPr algn="ctr" indent="0" marL="0">
              <a:buNone/>
            </a:pPr>
            <a:endParaRPr lang="en-US" dirty="0"/>
          </a:p>
        </p:txBody>
      </p:sp>
      <p:sp>
        <p:nvSpPr>
          <p:cNvPr id="5" name="Text 3"/>
          <p:cNvSpPr txBox="1"/>
          <p:nvPr/>
        </p:nvSpPr>
        <p:spPr>
          <a:xfrm>
            <a:off x="475488" y="1389888"/>
            <a:ext cx="6912864" cy="411480"/>
          </a:xfrm>
          <a:prstGeom prst="rect">
            <a:avLst/>
          </a:prstGeom>
          <a:solidFill>
            <a:schemeClr val="tx2"/>
          </a:solidFill>
          <a:ln>
            <a:solidFill>
              <a:schemeClr val="tx2"/>
            </a:solidFill>
          </a:ln>
        </p:spPr>
        <p:txBody>
          <a:bodyPr wrap="square" lIns="0" tIns="127000" rIns="127000" bIns="0" rtlCol="0" anchor="ctr"/>
          <a:lstStyle/>
          <a:p>
            <a:pPr indent="0" marL="0">
              <a:buNone/>
            </a:pPr>
            <a:r>
              <a:rPr lang="en-US" sz="1100" dirty="0">
                <a:solidFill>
                  <a:schemeClr val="bg1"/>
                </a:solidFill>
              </a:rPr>
              <a:t>M4 · Sesión   ·   Escenario v2   ·   Umbral 0,72   ·   Abierta</a:t>
            </a:r>
            <a:endParaRPr lang="en-US" sz="1100" dirty="0"/>
          </a:p>
        </p:txBody>
      </p:sp>
      <p:sp>
        <p:nvSpPr>
          <p:cNvPr id="6" name="Text 4"/>
          <p:cNvSpPr txBox="1"/>
          <p:nvPr/>
        </p:nvSpPr>
        <p:spPr>
          <a:xfrm>
            <a:off x="640080" y="1920240"/>
            <a:ext cx="3794760" cy="228600"/>
          </a:xfrm>
          <a:prstGeom prst="rect">
            <a:avLst/>
          </a:prstGeom>
          <a:noFill/>
          <a:ln/>
        </p:spPr>
        <p:txBody>
          <a:bodyPr wrap="square" lIns="0" tIns="0" rIns="0" bIns="0" rtlCol="0" anchor="ctr"/>
          <a:lstStyle/>
          <a:p>
            <a:pPr algn="l" indent="0" marL="0">
              <a:buNone/>
            </a:pPr>
            <a:r>
              <a:rPr lang="en-US" sz="1000" b="1" spc="100" kern="0" dirty="0">
                <a:solidFill>
                  <a:schemeClr val="accent4"/>
                </a:solidFill>
              </a:rPr>
              <a:t>TRANSCRIPCIÓN</a:t>
            </a:r>
            <a:endParaRPr lang="en-US" sz="1000" dirty="0"/>
          </a:p>
        </p:txBody>
      </p:sp>
      <p:sp>
        <p:nvSpPr>
          <p:cNvPr id="7" name="Text 5"/>
          <p:cNvSpPr txBox="1"/>
          <p:nvPr/>
        </p:nvSpPr>
        <p:spPr>
          <a:xfrm>
            <a:off x="4617720" y="1920240"/>
            <a:ext cx="2606040" cy="228600"/>
          </a:xfrm>
          <a:prstGeom prst="rect">
            <a:avLst/>
          </a:prstGeom>
          <a:noFill/>
          <a:ln/>
        </p:spPr>
        <p:txBody>
          <a:bodyPr wrap="square" lIns="0" tIns="0" rIns="0" bIns="0" rtlCol="0" anchor="ctr"/>
          <a:lstStyle/>
          <a:p>
            <a:pPr algn="l" indent="0" marL="0">
              <a:buNone/>
            </a:pPr>
            <a:r>
              <a:rPr lang="en-US" sz="1000" b="1" spc="100" kern="0" dirty="0">
                <a:solidFill>
                  <a:schemeClr val="accent4"/>
                </a:solidFill>
              </a:rPr>
              <a:t>SUGERENCIAS DE REVISIÓN</a:t>
            </a:r>
            <a:endParaRPr lang="en-US" sz="1000" dirty="0"/>
          </a:p>
        </p:txBody>
      </p:sp>
      <p:sp>
        <p:nvSpPr>
          <p:cNvPr id="8" name="Shape 6"/>
          <p:cNvSpPr/>
          <p:nvPr/>
        </p:nvSpPr>
        <p:spPr>
          <a:xfrm>
            <a:off x="640080" y="2350008"/>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932688" y="2240280"/>
            <a:ext cx="3502152" cy="640080"/>
          </a:xfrm>
          <a:prstGeom prst="rect">
            <a:avLst/>
          </a:prstGeom>
          <a:noFill/>
          <a:ln/>
        </p:spPr>
        <p:txBody>
          <a:bodyPr wrap="square" lIns="0" tIns="0" rIns="0" bIns="0" rtlCol="0" anchor="t"/>
          <a:lstStyle/>
          <a:p>
            <a:pPr indent="0" marL="0">
              <a:buNone/>
            </a:pPr>
            <a:r>
              <a:rPr lang="en-US" sz="1100" b="1" dirty="0">
                <a:solidFill>
                  <a:schemeClr val="tx1"/>
                </a:solidFill>
              </a:rPr>
              <a:t>Turno 1 · Evaluado</a:t>
            </a:r>
            <a:endParaRPr lang="en-US" sz="1100" dirty="0"/>
          </a:p>
          <a:p>
            <a:pPr indent="0" marL="0">
              <a:buNone/>
            </a:pPr>
            <a:r>
              <a:rPr lang="en-US" sz="1000" dirty="0">
                <a:solidFill>
                  <a:schemeClr val="accent4"/>
                </a:solidFill>
              </a:rPr>
              <a:t>sin sugerencias</a:t>
            </a:r>
            <a:endParaRPr lang="en-US" sz="1100" dirty="0"/>
          </a:p>
        </p:txBody>
      </p:sp>
      <p:sp>
        <p:nvSpPr>
          <p:cNvPr id="10" name="Shape 8"/>
          <p:cNvSpPr/>
          <p:nvPr/>
        </p:nvSpPr>
        <p:spPr>
          <a:xfrm>
            <a:off x="640080" y="3108960"/>
            <a:ext cx="182880" cy="182880"/>
          </a:xfrm>
          <a:prstGeom prst="ellipse">
            <a:avLst/>
          </a:prstGeom>
          <a:solidFill>
            <a:schemeClr val="accent2"/>
          </a:solidFill>
          <a:ln w="12700">
            <a:solidFill>
              <a:schemeClr val="accent2"/>
            </a:solidFill>
            <a:prstDash val="solid"/>
          </a:ln>
        </p:spPr>
      </p:sp>
      <p:sp>
        <p:nvSpPr>
          <p:cNvPr id="11" name="Text 9"/>
          <p:cNvSpPr txBox="1"/>
          <p:nvPr/>
        </p:nvSpPr>
        <p:spPr>
          <a:xfrm>
            <a:off x="932688" y="2999232"/>
            <a:ext cx="3502152" cy="640080"/>
          </a:xfrm>
          <a:prstGeom prst="rect">
            <a:avLst/>
          </a:prstGeom>
          <a:solidFill>
            <a:schemeClr val="accent2">
              <a:alpha val="12000"/>
            </a:schemeClr>
          </a:solidFill>
          <a:ln/>
        </p:spPr>
        <p:txBody>
          <a:bodyPr wrap="square" lIns="0" tIns="0" rIns="0" bIns="0" rtlCol="0" anchor="t"/>
          <a:lstStyle/>
          <a:p>
            <a:pPr indent="0" marL="0">
              <a:buNone/>
            </a:pPr>
            <a:r>
              <a:rPr lang="en-US" sz="1100" b="1" dirty="0">
                <a:solidFill>
                  <a:schemeClr val="tx1"/>
                </a:solidFill>
              </a:rPr>
              <a:t>Turno 2 · Evaluado</a:t>
            </a:r>
            <a:endParaRPr lang="en-US" sz="1100" dirty="0"/>
          </a:p>
          <a:p>
            <a:pPr indent="0" marL="0">
              <a:buNone/>
            </a:pPr>
            <a:r>
              <a:rPr lang="en-US" sz="1000" i="1" dirty="0">
                <a:solidFill>
                  <a:schemeClr val="accent4"/>
                </a:solidFill>
              </a:rPr>
              <a:t>«…como veinte hombres…»</a:t>
            </a:r>
            <a:endParaRPr lang="en-US" sz="1100" dirty="0"/>
          </a:p>
        </p:txBody>
      </p:sp>
      <p:sp>
        <p:nvSpPr>
          <p:cNvPr id="12" name="Shape 10"/>
          <p:cNvSpPr/>
          <p:nvPr/>
        </p:nvSpPr>
        <p:spPr>
          <a:xfrm>
            <a:off x="640080" y="3867912"/>
            <a:ext cx="182880" cy="182880"/>
          </a:xfrm>
          <a:prstGeom prst="ellipse">
            <a:avLst/>
          </a:prstGeom>
          <a:solidFill>
            <a:schemeClr val="accent4"/>
          </a:solidFill>
          <a:ln w="12700">
            <a:solidFill>
              <a:schemeClr val="accent4"/>
            </a:solidFill>
            <a:prstDash val="solid"/>
          </a:ln>
        </p:spPr>
      </p:sp>
      <p:sp>
        <p:nvSpPr>
          <p:cNvPr id="13" name="Text 11"/>
          <p:cNvSpPr txBox="1"/>
          <p:nvPr/>
        </p:nvSpPr>
        <p:spPr>
          <a:xfrm>
            <a:off x="932688" y="3758184"/>
            <a:ext cx="3502152" cy="640080"/>
          </a:xfrm>
          <a:prstGeom prst="rect">
            <a:avLst/>
          </a:prstGeom>
          <a:noFill/>
          <a:ln/>
        </p:spPr>
        <p:txBody>
          <a:bodyPr wrap="square" lIns="0" tIns="0" rIns="0" bIns="0" rtlCol="0" anchor="t"/>
          <a:lstStyle/>
          <a:p>
            <a:pPr indent="0" marL="0">
              <a:buNone/>
            </a:pPr>
            <a:r>
              <a:rPr lang="en-US" sz="1100" b="1" dirty="0">
                <a:solidFill>
                  <a:schemeClr val="tx1"/>
                </a:solidFill>
              </a:rPr>
              <a:t>Turno 3 · Hecho No Documentado</a:t>
            </a:r>
            <a:endParaRPr lang="en-US" sz="1100" dirty="0"/>
          </a:p>
          <a:p>
            <a:pPr indent="0" marL="0">
              <a:buNone/>
            </a:pPr>
            <a:r>
              <a:rPr lang="en-US" sz="1000" dirty="0">
                <a:solidFill>
                  <a:schemeClr val="accent4"/>
                </a:solidFill>
              </a:rPr>
              <a:t>control manual requerido</a:t>
            </a:r>
            <a:endParaRPr lang="en-US" sz="1100" dirty="0"/>
          </a:p>
        </p:txBody>
      </p:sp>
      <p:sp>
        <p:nvSpPr>
          <p:cNvPr id="14" name="Shape 12"/>
          <p:cNvSpPr/>
          <p:nvPr/>
        </p:nvSpPr>
        <p:spPr>
          <a:xfrm>
            <a:off x="640080" y="4626864"/>
            <a:ext cx="182880" cy="182880"/>
          </a:xfrm>
          <a:prstGeom prst="ellipse">
            <a:avLst/>
          </a:prstGeom>
          <a:solidFill>
            <a:schemeClr val="accent5"/>
          </a:solidFill>
          <a:ln w="12700">
            <a:solidFill>
              <a:schemeClr val="accent5"/>
            </a:solidFill>
            <a:prstDash val="solid"/>
          </a:ln>
        </p:spPr>
      </p:sp>
      <p:sp>
        <p:nvSpPr>
          <p:cNvPr id="15" name="Text 13"/>
          <p:cNvSpPr txBox="1"/>
          <p:nvPr/>
        </p:nvSpPr>
        <p:spPr>
          <a:xfrm>
            <a:off x="932688" y="4517136"/>
            <a:ext cx="3502152" cy="640080"/>
          </a:xfrm>
          <a:prstGeom prst="rect">
            <a:avLst/>
          </a:prstGeom>
          <a:noFill/>
          <a:ln/>
        </p:spPr>
        <p:txBody>
          <a:bodyPr wrap="square" lIns="0" tIns="0" rIns="0" bIns="0" rtlCol="0" anchor="t"/>
          <a:lstStyle/>
          <a:p>
            <a:pPr indent="0" marL="0">
              <a:buNone/>
            </a:pPr>
            <a:r>
              <a:rPr lang="en-US" sz="1100" b="1" dirty="0">
                <a:solidFill>
                  <a:schemeClr val="tx1"/>
                </a:solidFill>
              </a:rPr>
              <a:t>Turno 4 · Procesando 00:14</a:t>
            </a:r>
            <a:endParaRPr lang="en-US" sz="1100" dirty="0"/>
          </a:p>
          <a:p>
            <a:pPr indent="0" marL="0">
              <a:buNone/>
            </a:pPr>
            <a:r>
              <a:rPr lang="en-US" sz="1000" dirty="0">
                <a:solidFill>
                  <a:schemeClr val="accent4"/>
                </a:solidFill>
              </a:rPr>
              <a:t>consultando marco de verdad</a:t>
            </a:r>
            <a:endParaRPr lang="en-US" sz="1100" dirty="0"/>
          </a:p>
        </p:txBody>
      </p:sp>
      <p:sp>
        <p:nvSpPr>
          <p:cNvPr id="16" name="Text 14"/>
          <p:cNvSpPr txBox="1"/>
          <p:nvPr/>
        </p:nvSpPr>
        <p:spPr>
          <a:xfrm>
            <a:off x="640080" y="5440680"/>
            <a:ext cx="2697480" cy="457200"/>
          </a:xfrm>
          <a:prstGeom prst="roundRect">
            <a:avLst>
              <a:gd name="adj" fmla="val 16000"/>
            </a:avLst>
          </a:prstGeom>
          <a:solidFill>
            <a:schemeClr val="bg2"/>
          </a:solidFill>
          <a:ln w="12700">
            <a:solidFill>
              <a:schemeClr val="accent5"/>
            </a:solidFill>
          </a:ln>
        </p:spPr>
        <p:txBody>
          <a:bodyPr wrap="square" lIns="50800" tIns="76200" rIns="76200" bIns="50800" rtlCol="0" anchor="ctr"/>
          <a:lstStyle/>
          <a:p>
            <a:pPr algn="l" indent="0" marL="0">
              <a:buNone/>
            </a:pPr>
            <a:r>
              <a:rPr lang="en-US" sz="1000" b="1" dirty="0">
                <a:solidFill>
                  <a:schemeClr val="accent4"/>
                </a:solidFill>
              </a:rPr>
              <a:t>Escribe el turno…</a:t>
            </a:r>
            <a:endParaRPr lang="en-US" sz="1000" dirty="0"/>
          </a:p>
        </p:txBody>
      </p:sp>
      <p:sp>
        <p:nvSpPr>
          <p:cNvPr id="17" name="Text 15"/>
          <p:cNvSpPr txBox="1"/>
          <p:nvPr/>
        </p:nvSpPr>
        <p:spPr>
          <a:xfrm>
            <a:off x="3429000" y="5440680"/>
            <a:ext cx="1005840" cy="457200"/>
          </a:xfrm>
          <a:prstGeom prst="roundRect">
            <a:avLst>
              <a:gd name="adj" fmla="val 16000"/>
            </a:avLst>
          </a:prstGeom>
          <a:solidFill>
            <a:schemeClr val="tx2"/>
          </a:solidFill>
          <a:ln>
            <a:solidFill>
              <a:schemeClr val="tx2"/>
            </a:solidFill>
          </a:ln>
        </p:spPr>
        <p:txBody>
          <a:bodyPr wrap="square" lIns="50800" tIns="76200" rIns="76200" bIns="50800" rtlCol="0" anchor="ctr"/>
          <a:lstStyle/>
          <a:p>
            <a:pPr algn="ctr" indent="0" marL="0">
              <a:buNone/>
            </a:pPr>
            <a:r>
              <a:rPr lang="en-US" sz="1100" b="1" dirty="0">
                <a:solidFill>
                  <a:schemeClr val="bg1"/>
                </a:solidFill>
              </a:rPr>
              <a:t>Enviar</a:t>
            </a:r>
            <a:endParaRPr lang="en-US" sz="1100" dirty="0"/>
          </a:p>
        </p:txBody>
      </p:sp>
      <p:sp>
        <p:nvSpPr>
          <p:cNvPr id="18" name="Shape 16"/>
          <p:cNvSpPr/>
          <p:nvPr/>
        </p:nvSpPr>
        <p:spPr>
          <a:xfrm>
            <a:off x="4498848" y="1920240"/>
            <a:ext cx="0" cy="4114800"/>
          </a:xfrm>
          <a:prstGeom prst="line">
            <a:avLst/>
          </a:prstGeom>
          <a:noFill/>
          <a:ln w="12700">
            <a:solidFill>
              <a:schemeClr val="accent5"/>
            </a:solidFill>
            <a:prstDash val="solid"/>
          </a:ln>
        </p:spPr>
      </p:sp>
      <p:sp>
        <p:nvSpPr>
          <p:cNvPr id="19" name="Text 17"/>
          <p:cNvSpPr txBox="1"/>
          <p:nvPr/>
        </p:nvSpPr>
        <p:spPr>
          <a:xfrm>
            <a:off x="4617720" y="2240280"/>
            <a:ext cx="2606040" cy="2743200"/>
          </a:xfrm>
          <a:prstGeom prst="roundRect">
            <a:avLst>
              <a:gd name="adj" fmla="val 2807"/>
            </a:avLst>
          </a:prstGeom>
          <a:solidFill>
            <a:schemeClr val="accent2">
              <a:alpha val="8000"/>
            </a:schemeClr>
          </a:solidFill>
          <a:ln w="15875">
            <a:solidFill>
              <a:schemeClr val="accent2"/>
            </a:solidFill>
          </a:ln>
        </p:spPr>
        <p:txBody>
          <a:bodyPr wrap="square" lIns="50800" tIns="76200" rIns="76200" bIns="50800" rtlCol="0" anchor="ctr"/>
          <a:lstStyle/>
          <a:p>
            <a:pPr algn="ctr" indent="0" marL="0">
              <a:buNone/>
            </a:pPr>
            <a:endParaRPr lang="en-US" dirty="0"/>
          </a:p>
        </p:txBody>
      </p:sp>
      <p:sp>
        <p:nvSpPr>
          <p:cNvPr id="20" name="Text 18"/>
          <p:cNvSpPr txBox="1"/>
          <p:nvPr/>
        </p:nvSpPr>
        <p:spPr>
          <a:xfrm>
            <a:off x="4754880" y="2331720"/>
            <a:ext cx="2331720" cy="1280160"/>
          </a:xfrm>
          <a:prstGeom prst="rect">
            <a:avLst/>
          </a:prstGeom>
          <a:noFill/>
          <a:ln/>
        </p:spPr>
        <p:txBody>
          <a:bodyPr wrap="square" lIns="0" tIns="0" rIns="0" bIns="0" rtlCol="0" anchor="t"/>
          <a:lstStyle/>
          <a:p>
            <a:pPr indent="0" marL="0">
              <a:spcAft>
                <a:spcPts val="300"/>
              </a:spcAft>
              <a:buNone/>
            </a:pPr>
            <a:r>
              <a:rPr lang="en-US" sz="1100" b="1" dirty="0">
                <a:solidFill>
                  <a:schemeClr val="tx2"/>
                </a:solidFill>
              </a:rPr>
              <a:t>Incongruencia · Turno 2</a:t>
            </a:r>
            <a:endParaRPr lang="en-US" sz="1100" dirty="0"/>
          </a:p>
          <a:p>
            <a:pPr indent="0" marL="0">
              <a:spcAft>
                <a:spcPts val="300"/>
              </a:spcAft>
              <a:buNone/>
            </a:pPr>
            <a:r>
              <a:rPr lang="en-US" sz="1000" dirty="0">
                <a:solidFill>
                  <a:schemeClr val="tx1"/>
                </a:solidFill>
              </a:rPr>
              <a:t>Fragmento: «veinte hombres»</a:t>
            </a:r>
            <a:endParaRPr lang="en-US" sz="1100" dirty="0"/>
          </a:p>
          <a:p>
            <a:pPr indent="0" marL="0">
              <a:spcAft>
                <a:spcPts val="300"/>
              </a:spcAft>
              <a:buNone/>
            </a:pPr>
            <a:r>
              <a:rPr lang="en-US" sz="1000" dirty="0">
                <a:solidFill>
                  <a:schemeClr val="tx1"/>
                </a:solidFill>
              </a:rPr>
              <a:t>Cita: «seis personas» · DOC-14</a:t>
            </a:r>
            <a:endParaRPr lang="en-US" sz="1100" dirty="0"/>
          </a:p>
          <a:p>
            <a:pPr indent="0" marL="0">
              <a:spcAft>
                <a:spcPts val="300"/>
              </a:spcAft>
              <a:buNone/>
            </a:pPr>
            <a:r>
              <a:rPr lang="en-US" sz="1000" b="1" dirty="0">
                <a:solidFill>
                  <a:schemeClr val="accent1"/>
                </a:solidFill>
              </a:rPr>
              <a:t>▸ Ver razonamiento (CoT)</a:t>
            </a:r>
            <a:endParaRPr lang="en-US" sz="1100" dirty="0"/>
          </a:p>
        </p:txBody>
      </p:sp>
      <p:sp>
        <p:nvSpPr>
          <p:cNvPr id="21" name="Text 19"/>
          <p:cNvSpPr txBox="1"/>
          <p:nvPr/>
        </p:nvSpPr>
        <p:spPr>
          <a:xfrm>
            <a:off x="4754880" y="3794760"/>
            <a:ext cx="731520" cy="347472"/>
          </a:xfrm>
          <a:prstGeom prst="roundRect">
            <a:avLst>
              <a:gd name="adj" fmla="val 21053"/>
            </a:avLst>
          </a:prstGeom>
          <a:solidFill>
            <a:schemeClr val="bg1"/>
          </a:solidFill>
          <a:ln w="12700">
            <a:solidFill>
              <a:schemeClr val="tx2"/>
            </a:solidFill>
          </a:ln>
        </p:spPr>
        <p:txBody>
          <a:bodyPr wrap="square" lIns="0" tIns="0" rIns="0" bIns="0" rtlCol="0" anchor="ctr"/>
          <a:lstStyle/>
          <a:p>
            <a:pPr algn="ctr" indent="0" marL="0">
              <a:buNone/>
            </a:pPr>
            <a:r>
              <a:rPr lang="en-US" sz="1000" b="1" dirty="0">
                <a:solidFill>
                  <a:schemeClr val="tx2"/>
                </a:solidFill>
              </a:rPr>
              <a:t>Aceptar</a:t>
            </a:r>
            <a:endParaRPr lang="en-US" sz="1000" dirty="0"/>
          </a:p>
        </p:txBody>
      </p:sp>
      <p:sp>
        <p:nvSpPr>
          <p:cNvPr id="22" name="Text 20"/>
          <p:cNvSpPr txBox="1"/>
          <p:nvPr/>
        </p:nvSpPr>
        <p:spPr>
          <a:xfrm>
            <a:off x="5550408" y="3794760"/>
            <a:ext cx="731520" cy="347472"/>
          </a:xfrm>
          <a:prstGeom prst="roundRect">
            <a:avLst>
              <a:gd name="adj" fmla="val 21053"/>
            </a:avLst>
          </a:prstGeom>
          <a:solidFill>
            <a:schemeClr val="bg1"/>
          </a:solidFill>
          <a:ln w="12700">
            <a:solidFill>
              <a:schemeClr val="tx2"/>
            </a:solidFill>
          </a:ln>
        </p:spPr>
        <p:txBody>
          <a:bodyPr wrap="square" lIns="0" tIns="0" rIns="0" bIns="0" rtlCol="0" anchor="ctr"/>
          <a:lstStyle/>
          <a:p>
            <a:pPr algn="ctr" indent="0" marL="0">
              <a:buNone/>
            </a:pPr>
            <a:r>
              <a:rPr lang="en-US" sz="1000" b="1" dirty="0">
                <a:solidFill>
                  <a:schemeClr val="tx2"/>
                </a:solidFill>
              </a:rPr>
              <a:t>Editar</a:t>
            </a:r>
            <a:endParaRPr lang="en-US" sz="1000" dirty="0"/>
          </a:p>
        </p:txBody>
      </p:sp>
      <p:sp>
        <p:nvSpPr>
          <p:cNvPr id="23" name="Text 21"/>
          <p:cNvSpPr txBox="1"/>
          <p:nvPr/>
        </p:nvSpPr>
        <p:spPr>
          <a:xfrm>
            <a:off x="6345936" y="3794760"/>
            <a:ext cx="731520" cy="347472"/>
          </a:xfrm>
          <a:prstGeom prst="roundRect">
            <a:avLst>
              <a:gd name="adj" fmla="val 21053"/>
            </a:avLst>
          </a:prstGeom>
          <a:solidFill>
            <a:schemeClr val="bg1"/>
          </a:solidFill>
          <a:ln w="12700">
            <a:solidFill>
              <a:schemeClr val="tx2"/>
            </a:solidFill>
          </a:ln>
        </p:spPr>
        <p:txBody>
          <a:bodyPr wrap="square" lIns="0" tIns="0" rIns="0" bIns="0" rtlCol="0" anchor="ctr"/>
          <a:lstStyle/>
          <a:p>
            <a:pPr algn="ctr" indent="0" marL="0">
              <a:buNone/>
            </a:pPr>
            <a:r>
              <a:rPr lang="en-US" sz="1000" b="1" dirty="0">
                <a:solidFill>
                  <a:schemeClr val="tx2"/>
                </a:solidFill>
              </a:rPr>
              <a:t>Descartar</a:t>
            </a:r>
            <a:endParaRPr lang="en-US" sz="1000" dirty="0"/>
          </a:p>
        </p:txBody>
      </p:sp>
      <p:sp>
        <p:nvSpPr>
          <p:cNvPr id="24" name="Text 22"/>
          <p:cNvSpPr txBox="1"/>
          <p:nvPr/>
        </p:nvSpPr>
        <p:spPr>
          <a:xfrm>
            <a:off x="4754880" y="4343400"/>
            <a:ext cx="2331720" cy="457200"/>
          </a:xfrm>
          <a:prstGeom prst="rect">
            <a:avLst/>
          </a:prstGeom>
          <a:noFill/>
          <a:ln/>
        </p:spPr>
        <p:txBody>
          <a:bodyPr wrap="square" lIns="0" tIns="0" rIns="0" bIns="0" rtlCol="0" anchor="ctr"/>
          <a:lstStyle/>
          <a:p>
            <a:pPr algn="l" indent="0" marL="0">
              <a:buNone/>
            </a:pPr>
            <a:r>
              <a:rPr lang="en-US" sz="1000" i="1" dirty="0">
                <a:solidFill>
                  <a:schemeClr val="accent4"/>
                </a:solidFill>
              </a:rPr>
              <a:t>La decisión es del analista</a:t>
            </a:r>
            <a:endParaRPr lang="en-US" sz="1000" dirty="0"/>
          </a:p>
        </p:txBody>
      </p:sp>
      <p:sp>
        <p:nvSpPr>
          <p:cNvPr id="25" name="Text 23"/>
          <p:cNvSpPr txBox="1"/>
          <p:nvPr/>
        </p:nvSpPr>
        <p:spPr>
          <a:xfrm>
            <a:off x="4617720" y="5120640"/>
            <a:ext cx="2606040" cy="777240"/>
          </a:xfrm>
          <a:prstGeom prst="roundRect">
            <a:avLst>
              <a:gd name="adj" fmla="val 9412"/>
            </a:avLst>
          </a:prstGeom>
          <a:solidFill>
            <a:schemeClr val="bg2"/>
          </a:solidFill>
          <a:ln w="12700">
            <a:solidFill>
              <a:schemeClr val="accent4"/>
            </a:solidFill>
            <a:prstDash val="dash"/>
          </a:ln>
        </p:spPr>
        <p:txBody>
          <a:bodyPr wrap="square" lIns="50800" tIns="76200" rIns="76200" bIns="50800" rtlCol="0" anchor="ctr"/>
          <a:lstStyle/>
          <a:p>
            <a:pPr algn="ctr" indent="0" marL="0">
              <a:buNone/>
            </a:pPr>
            <a:r>
              <a:rPr lang="en-US" sz="1100" b="1" dirty="0">
                <a:solidFill>
                  <a:schemeClr val="tx2"/>
                </a:solidFill>
              </a:rPr>
              <a:t>Paquete de Contexto de Traspaso</a:t>
            </a:r>
            <a:endParaRPr lang="en-US" sz="1100" dirty="0"/>
          </a:p>
          <a:p>
            <a:pPr algn="ctr" indent="0" marL="0">
              <a:buNone/>
            </a:pPr>
            <a:r>
              <a:rPr lang="en-US" sz="1000" dirty="0">
                <a:solidFill>
                  <a:schemeClr val="accent4"/>
                </a:solidFill>
              </a:rPr>
              <a:t>panel no modal, sin alerta</a:t>
            </a:r>
            <a:endParaRPr lang="en-US" sz="1100" dirty="0"/>
          </a:p>
        </p:txBody>
      </p:sp>
      <p:sp>
        <p:nvSpPr>
          <p:cNvPr id="26" name="Text 24"/>
          <p:cNvSpPr txBox="1"/>
          <p:nvPr/>
        </p:nvSpPr>
        <p:spPr>
          <a:xfrm>
            <a:off x="7726680" y="1371600"/>
            <a:ext cx="1920240" cy="914400"/>
          </a:xfrm>
          <a:prstGeom prst="rect">
            <a:avLst/>
          </a:prstGeom>
          <a:solidFill>
            <a:schemeClr val="bg2"/>
          </a:solidFill>
          <a:ln/>
        </p:spPr>
        <p:txBody>
          <a:bodyPr wrap="square" lIns="0" tIns="101600" rIns="101600" bIns="0" rtlCol="0" anchor="ctr"/>
          <a:lstStyle/>
          <a:p>
            <a:pPr indent="0" marL="0">
              <a:buNone/>
            </a:pPr>
            <a:r>
              <a:rPr lang="en-US" sz="3200" b="1" dirty="0">
                <a:solidFill>
                  <a:schemeClr val="accent1"/>
                </a:solidFill>
              </a:rPr>
              <a:t>3</a:t>
            </a:r>
            <a:endParaRPr lang="en-US" sz="3200" dirty="0"/>
          </a:p>
          <a:p>
            <a:pPr indent="0" marL="0">
              <a:buNone/>
            </a:pPr>
            <a:r>
              <a:rPr lang="en-US" sz="1100" dirty="0">
                <a:solidFill>
                  <a:schemeClr val="tx1"/>
                </a:solidFill>
              </a:rPr>
              <a:t>personas</a:t>
            </a:r>
            <a:endParaRPr lang="en-US" sz="3200" dirty="0"/>
          </a:p>
        </p:txBody>
      </p:sp>
      <p:sp>
        <p:nvSpPr>
          <p:cNvPr id="27" name="Text 25"/>
          <p:cNvSpPr txBox="1"/>
          <p:nvPr/>
        </p:nvSpPr>
        <p:spPr>
          <a:xfrm>
            <a:off x="9829800" y="1371600"/>
            <a:ext cx="1920240" cy="914400"/>
          </a:xfrm>
          <a:prstGeom prst="rect">
            <a:avLst/>
          </a:prstGeom>
          <a:solidFill>
            <a:schemeClr val="bg2"/>
          </a:solidFill>
          <a:ln/>
        </p:spPr>
        <p:txBody>
          <a:bodyPr wrap="square" lIns="0" tIns="101600" rIns="101600" bIns="0" rtlCol="0" anchor="ctr"/>
          <a:lstStyle/>
          <a:p>
            <a:pPr indent="0" marL="0">
              <a:buNone/>
            </a:pPr>
            <a:r>
              <a:rPr lang="en-US" sz="3200" b="1" dirty="0">
                <a:solidFill>
                  <a:schemeClr val="accent1"/>
                </a:solidFill>
              </a:rPr>
              <a:t>44</a:t>
            </a:r>
            <a:endParaRPr lang="en-US" sz="3200" dirty="0"/>
          </a:p>
          <a:p>
            <a:pPr indent="0" marL="0">
              <a:buNone/>
            </a:pPr>
            <a:r>
              <a:rPr lang="en-US" sz="1100" dirty="0">
                <a:solidFill>
                  <a:schemeClr val="tx1"/>
                </a:solidFill>
              </a:rPr>
              <a:t>historias</a:t>
            </a:r>
            <a:endParaRPr lang="en-US" sz="3200" dirty="0"/>
          </a:p>
        </p:txBody>
      </p:sp>
      <p:sp>
        <p:nvSpPr>
          <p:cNvPr id="28" name="Text 26"/>
          <p:cNvSpPr txBox="1"/>
          <p:nvPr/>
        </p:nvSpPr>
        <p:spPr>
          <a:xfrm>
            <a:off x="7726680" y="2468880"/>
            <a:ext cx="1920240" cy="914400"/>
          </a:xfrm>
          <a:prstGeom prst="rect">
            <a:avLst/>
          </a:prstGeom>
          <a:solidFill>
            <a:schemeClr val="bg2"/>
          </a:solidFill>
          <a:ln/>
        </p:spPr>
        <p:txBody>
          <a:bodyPr wrap="square" lIns="0" tIns="101600" rIns="101600" bIns="0" rtlCol="0" anchor="ctr"/>
          <a:lstStyle/>
          <a:p>
            <a:pPr indent="0" marL="0">
              <a:buNone/>
            </a:pPr>
            <a:r>
              <a:rPr lang="en-US" sz="3200" b="1" dirty="0">
                <a:solidFill>
                  <a:schemeClr val="accent1"/>
                </a:solidFill>
              </a:rPr>
              <a:t>139</a:t>
            </a:r>
            <a:endParaRPr lang="en-US" sz="3200" dirty="0"/>
          </a:p>
          <a:p>
            <a:pPr indent="0" marL="0">
              <a:buNone/>
            </a:pPr>
            <a:r>
              <a:rPr lang="en-US" sz="1100" dirty="0">
                <a:solidFill>
                  <a:schemeClr val="tx1"/>
                </a:solidFill>
              </a:rPr>
              <a:t>criterios de aceptación</a:t>
            </a:r>
            <a:endParaRPr lang="en-US" sz="3200" dirty="0"/>
          </a:p>
        </p:txBody>
      </p:sp>
      <p:sp>
        <p:nvSpPr>
          <p:cNvPr id="29" name="Text 27"/>
          <p:cNvSpPr txBox="1"/>
          <p:nvPr/>
        </p:nvSpPr>
        <p:spPr>
          <a:xfrm>
            <a:off x="9829800" y="2468880"/>
            <a:ext cx="1920240" cy="914400"/>
          </a:xfrm>
          <a:prstGeom prst="rect">
            <a:avLst/>
          </a:prstGeom>
          <a:solidFill>
            <a:schemeClr val="bg2"/>
          </a:solidFill>
          <a:ln/>
        </p:spPr>
        <p:txBody>
          <a:bodyPr wrap="square" lIns="0" tIns="101600" rIns="101600" bIns="0" rtlCol="0" anchor="ctr"/>
          <a:lstStyle/>
          <a:p>
            <a:pPr indent="0" marL="0">
              <a:buNone/>
            </a:pPr>
            <a:r>
              <a:rPr lang="en-US" sz="3200" b="1" dirty="0">
                <a:solidFill>
                  <a:schemeClr val="accent1"/>
                </a:solidFill>
              </a:rPr>
              <a:t>7</a:t>
            </a:r>
            <a:endParaRPr lang="en-US" sz="3200" dirty="0"/>
          </a:p>
          <a:p>
            <a:pPr indent="0" marL="0">
              <a:buNone/>
            </a:pPr>
            <a:r>
              <a:rPr lang="en-US" sz="1100" dirty="0">
                <a:solidFill>
                  <a:schemeClr val="tx1"/>
                </a:solidFill>
              </a:rPr>
              <a:t>pantallas M0–M6</a:t>
            </a:r>
            <a:endParaRPr lang="en-US" sz="3200" dirty="0"/>
          </a:p>
        </p:txBody>
      </p:sp>
      <p:sp>
        <p:nvSpPr>
          <p:cNvPr id="30" name="Text 28"/>
          <p:cNvSpPr txBox="1"/>
          <p:nvPr/>
        </p:nvSpPr>
        <p:spPr>
          <a:xfrm>
            <a:off x="7726680" y="3566160"/>
            <a:ext cx="1920240" cy="914400"/>
          </a:xfrm>
          <a:prstGeom prst="rect">
            <a:avLst/>
          </a:prstGeom>
          <a:solidFill>
            <a:schemeClr val="bg2"/>
          </a:solidFill>
          <a:ln/>
        </p:spPr>
        <p:txBody>
          <a:bodyPr wrap="square" lIns="0" tIns="101600" rIns="101600" bIns="0" rtlCol="0" anchor="ctr"/>
          <a:lstStyle/>
          <a:p>
            <a:pPr indent="0" marL="0">
              <a:buNone/>
            </a:pPr>
            <a:r>
              <a:rPr lang="en-US" sz="3200" b="1" dirty="0">
                <a:solidFill>
                  <a:schemeClr val="accent1"/>
                </a:solidFill>
              </a:rPr>
              <a:t>9</a:t>
            </a:r>
            <a:endParaRPr lang="en-US" sz="3200" dirty="0"/>
          </a:p>
          <a:p>
            <a:pPr indent="0" marL="0">
              <a:buNone/>
            </a:pPr>
            <a:r>
              <a:rPr lang="en-US" sz="1100" dirty="0">
                <a:solidFill>
                  <a:schemeClr val="tx1"/>
                </a:solidFill>
              </a:rPr>
              <a:t>decisiones de arquitectura</a:t>
            </a:r>
            <a:endParaRPr lang="en-US" sz="3200" dirty="0"/>
          </a:p>
        </p:txBody>
      </p:sp>
      <p:sp>
        <p:nvSpPr>
          <p:cNvPr id="31" name="Text 29"/>
          <p:cNvSpPr txBox="1"/>
          <p:nvPr/>
        </p:nvSpPr>
        <p:spPr>
          <a:xfrm>
            <a:off x="9829800" y="3566160"/>
            <a:ext cx="1920240" cy="914400"/>
          </a:xfrm>
          <a:prstGeom prst="rect">
            <a:avLst/>
          </a:prstGeom>
          <a:solidFill>
            <a:schemeClr val="bg2"/>
          </a:solidFill>
          <a:ln/>
        </p:spPr>
        <p:txBody>
          <a:bodyPr wrap="square" lIns="0" tIns="101600" rIns="101600" bIns="0" rtlCol="0" anchor="ctr"/>
          <a:lstStyle/>
          <a:p>
            <a:pPr indent="0" marL="0">
              <a:buNone/>
            </a:pPr>
            <a:r>
              <a:rPr lang="en-US" sz="3200" b="1" dirty="0">
                <a:solidFill>
                  <a:schemeClr val="accent1"/>
                </a:solidFill>
              </a:rPr>
              <a:t>16</a:t>
            </a:r>
            <a:endParaRPr lang="en-US" sz="3200" dirty="0"/>
          </a:p>
          <a:p>
            <a:pPr indent="0" marL="0">
              <a:buNone/>
            </a:pPr>
            <a:r>
              <a:rPr lang="en-US" sz="1100" dirty="0">
                <a:solidFill>
                  <a:schemeClr val="tx1"/>
                </a:solidFill>
              </a:rPr>
              <a:t>contratos entre unidades</a:t>
            </a:r>
            <a:endParaRPr lang="en-US" sz="3200" dirty="0"/>
          </a:p>
        </p:txBody>
      </p:sp>
      <p:sp>
        <p:nvSpPr>
          <p:cNvPr id="32" name="Text 30"/>
          <p:cNvSpPr txBox="1"/>
          <p:nvPr/>
        </p:nvSpPr>
        <p:spPr>
          <a:xfrm>
            <a:off x="7726680" y="4709160"/>
            <a:ext cx="4023360" cy="274320"/>
          </a:xfrm>
          <a:prstGeom prst="rect">
            <a:avLst/>
          </a:prstGeom>
          <a:noFill/>
          <a:ln/>
        </p:spPr>
        <p:txBody>
          <a:bodyPr wrap="square" lIns="0" tIns="0" rIns="0" bIns="0" rtlCol="0" anchor="ctr"/>
          <a:lstStyle/>
          <a:p>
            <a:pPr algn="l" indent="0" marL="0">
              <a:buNone/>
            </a:pPr>
            <a:r>
              <a:rPr lang="en-US" sz="1000" b="1" spc="100" kern="0" dirty="0">
                <a:solidFill>
                  <a:schemeClr val="tx2"/>
                </a:solidFill>
              </a:rPr>
              <a:t>REGLAS AUTONOMIA, BLOQUEANTES EN CADA ETAPA</a:t>
            </a:r>
            <a:endParaRPr lang="en-US" sz="1000" dirty="0"/>
          </a:p>
        </p:txBody>
      </p:sp>
      <p:sp>
        <p:nvSpPr>
          <p:cNvPr id="33" name="Text 31"/>
          <p:cNvSpPr txBox="1"/>
          <p:nvPr/>
        </p:nvSpPr>
        <p:spPr>
          <a:xfrm>
            <a:off x="7726680" y="5056632"/>
            <a:ext cx="749808" cy="548640"/>
          </a:xfrm>
          <a:prstGeom prst="roundRect">
            <a:avLst>
              <a:gd name="adj" fmla="val 10000"/>
            </a:avLst>
          </a:prstGeom>
          <a:solidFill>
            <a:schemeClr val="accent3"/>
          </a:solidFill>
          <a:ln>
            <a:solidFill>
              <a:schemeClr val="tx2"/>
            </a:solidFill>
          </a:ln>
        </p:spPr>
        <p:txBody>
          <a:bodyPr wrap="square" lIns="0" tIns="0" rIns="0" bIns="0" rtlCol="0" anchor="ctr"/>
          <a:lstStyle/>
          <a:p>
            <a:pPr algn="ctr" indent="0" marL="0">
              <a:buNone/>
            </a:pPr>
            <a:r>
              <a:rPr lang="en-US" sz="1800" b="1" dirty="0">
                <a:solidFill>
                  <a:schemeClr val="bg1"/>
                </a:solidFill>
              </a:rPr>
              <a:t>01</a:t>
            </a:r>
            <a:endParaRPr lang="en-US" sz="1800" dirty="0"/>
          </a:p>
        </p:txBody>
      </p:sp>
      <p:sp>
        <p:nvSpPr>
          <p:cNvPr id="34" name="Text 32"/>
          <p:cNvSpPr txBox="1"/>
          <p:nvPr/>
        </p:nvSpPr>
        <p:spPr>
          <a:xfrm>
            <a:off x="7680960" y="5641848"/>
            <a:ext cx="841248" cy="237744"/>
          </a:xfrm>
          <a:prstGeom prst="rect">
            <a:avLst/>
          </a:prstGeom>
          <a:noFill/>
          <a:ln/>
        </p:spPr>
        <p:txBody>
          <a:bodyPr wrap="square" lIns="0" tIns="0" rIns="0" bIns="0" rtlCol="0" anchor="ctr"/>
          <a:lstStyle/>
          <a:p>
            <a:pPr algn="ctr" indent="0" marL="0">
              <a:buNone/>
            </a:pPr>
            <a:r>
              <a:rPr lang="en-US" sz="1000" dirty="0">
                <a:solidFill>
                  <a:schemeClr val="tx1"/>
                </a:solidFill>
              </a:rPr>
              <a:t>despliegue</a:t>
            </a:r>
            <a:endParaRPr lang="en-US" sz="1000" dirty="0"/>
          </a:p>
        </p:txBody>
      </p:sp>
      <p:sp>
        <p:nvSpPr>
          <p:cNvPr id="35" name="Text 33"/>
          <p:cNvSpPr txBox="1"/>
          <p:nvPr/>
        </p:nvSpPr>
        <p:spPr>
          <a:xfrm>
            <a:off x="8540496" y="5056632"/>
            <a:ext cx="749808" cy="548640"/>
          </a:xfrm>
          <a:prstGeom prst="roundRect">
            <a:avLst>
              <a:gd name="adj" fmla="val 10000"/>
            </a:avLst>
          </a:prstGeom>
          <a:solidFill>
            <a:schemeClr val="accent3"/>
          </a:solidFill>
          <a:ln>
            <a:solidFill>
              <a:schemeClr val="tx2"/>
            </a:solidFill>
          </a:ln>
        </p:spPr>
        <p:txBody>
          <a:bodyPr wrap="square" lIns="0" tIns="0" rIns="0" bIns="0" rtlCol="0" anchor="ctr"/>
          <a:lstStyle/>
          <a:p>
            <a:pPr algn="ctr" indent="0" marL="0">
              <a:buNone/>
            </a:pPr>
            <a:r>
              <a:rPr lang="en-US" sz="1800" b="1" dirty="0">
                <a:solidFill>
                  <a:schemeClr val="bg1"/>
                </a:solidFill>
              </a:rPr>
              <a:t>02</a:t>
            </a:r>
            <a:endParaRPr lang="en-US" sz="1800" dirty="0"/>
          </a:p>
        </p:txBody>
      </p:sp>
      <p:sp>
        <p:nvSpPr>
          <p:cNvPr id="36" name="Text 34"/>
          <p:cNvSpPr txBox="1"/>
          <p:nvPr/>
        </p:nvSpPr>
        <p:spPr>
          <a:xfrm>
            <a:off x="8494776" y="5641848"/>
            <a:ext cx="841248" cy="237744"/>
          </a:xfrm>
          <a:prstGeom prst="rect">
            <a:avLst/>
          </a:prstGeom>
          <a:noFill/>
          <a:ln/>
        </p:spPr>
        <p:txBody>
          <a:bodyPr wrap="square" lIns="0" tIns="0" rIns="0" bIns="0" rtlCol="0" anchor="ctr"/>
          <a:lstStyle/>
          <a:p>
            <a:pPr algn="ctr" indent="0" marL="0">
              <a:buNone/>
            </a:pPr>
            <a:r>
              <a:rPr lang="en-US" sz="1000" dirty="0">
                <a:solidFill>
                  <a:schemeClr val="tx1"/>
                </a:solidFill>
              </a:rPr>
              <a:t>medible</a:t>
            </a:r>
            <a:endParaRPr lang="en-US" sz="1000" dirty="0"/>
          </a:p>
        </p:txBody>
      </p:sp>
      <p:sp>
        <p:nvSpPr>
          <p:cNvPr id="37" name="Text 35"/>
          <p:cNvSpPr txBox="1"/>
          <p:nvPr/>
        </p:nvSpPr>
        <p:spPr>
          <a:xfrm>
            <a:off x="9354312" y="5056632"/>
            <a:ext cx="749808" cy="548640"/>
          </a:xfrm>
          <a:prstGeom prst="roundRect">
            <a:avLst>
              <a:gd name="adj" fmla="val 10000"/>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03</a:t>
            </a:r>
            <a:endParaRPr lang="en-US" sz="1800" dirty="0"/>
          </a:p>
        </p:txBody>
      </p:sp>
      <p:sp>
        <p:nvSpPr>
          <p:cNvPr id="38" name="Text 36"/>
          <p:cNvSpPr txBox="1"/>
          <p:nvPr/>
        </p:nvSpPr>
        <p:spPr>
          <a:xfrm>
            <a:off x="9308592" y="5641848"/>
            <a:ext cx="841248" cy="237744"/>
          </a:xfrm>
          <a:prstGeom prst="rect">
            <a:avLst/>
          </a:prstGeom>
          <a:noFill/>
          <a:ln/>
        </p:spPr>
        <p:txBody>
          <a:bodyPr wrap="square" lIns="0" tIns="0" rIns="0" bIns="0" rtlCol="0" anchor="ctr"/>
          <a:lstStyle/>
          <a:p>
            <a:pPr algn="ctr" indent="0" marL="0">
              <a:buNone/>
            </a:pPr>
            <a:r>
              <a:rPr lang="en-US" sz="1000" dirty="0">
                <a:solidFill>
                  <a:schemeClr val="tx1"/>
                </a:solidFill>
              </a:rPr>
              <a:t>veredicto</a:t>
            </a:r>
            <a:endParaRPr lang="en-US" sz="1000" dirty="0"/>
          </a:p>
        </p:txBody>
      </p:sp>
      <p:sp>
        <p:nvSpPr>
          <p:cNvPr id="39" name="Text 37"/>
          <p:cNvSpPr txBox="1"/>
          <p:nvPr/>
        </p:nvSpPr>
        <p:spPr>
          <a:xfrm>
            <a:off x="10168128" y="5056632"/>
            <a:ext cx="749808" cy="548640"/>
          </a:xfrm>
          <a:prstGeom prst="roundRect">
            <a:avLst>
              <a:gd name="adj" fmla="val 10000"/>
            </a:avLst>
          </a:prstGeom>
          <a:solidFill>
            <a:schemeClr val="accent3"/>
          </a:solidFill>
          <a:ln>
            <a:solidFill>
              <a:schemeClr val="tx2"/>
            </a:solidFill>
          </a:ln>
        </p:spPr>
        <p:txBody>
          <a:bodyPr wrap="square" lIns="0" tIns="0" rIns="0" bIns="0" rtlCol="0" anchor="ctr"/>
          <a:lstStyle/>
          <a:p>
            <a:pPr algn="ctr" indent="0" marL="0">
              <a:buNone/>
            </a:pPr>
            <a:r>
              <a:rPr lang="en-US" sz="1800" b="1" dirty="0">
                <a:solidFill>
                  <a:schemeClr val="bg1"/>
                </a:solidFill>
              </a:rPr>
              <a:t>04</a:t>
            </a:r>
            <a:endParaRPr lang="en-US" sz="1800" dirty="0"/>
          </a:p>
        </p:txBody>
      </p:sp>
      <p:sp>
        <p:nvSpPr>
          <p:cNvPr id="40" name="Text 38"/>
          <p:cNvSpPr txBox="1"/>
          <p:nvPr/>
        </p:nvSpPr>
        <p:spPr>
          <a:xfrm>
            <a:off x="10122408" y="5641848"/>
            <a:ext cx="841248" cy="237744"/>
          </a:xfrm>
          <a:prstGeom prst="rect">
            <a:avLst/>
          </a:prstGeom>
          <a:noFill/>
          <a:ln/>
        </p:spPr>
        <p:txBody>
          <a:bodyPr wrap="square" lIns="0" tIns="0" rIns="0" bIns="0" rtlCol="0" anchor="ctr"/>
          <a:lstStyle/>
          <a:p>
            <a:pPr algn="ctr" indent="0" marL="0">
              <a:buNone/>
            </a:pPr>
            <a:r>
              <a:rPr lang="en-US" sz="1000" dirty="0">
                <a:solidFill>
                  <a:schemeClr val="tx1"/>
                </a:solidFill>
              </a:rPr>
              <a:t>soberanía</a:t>
            </a:r>
            <a:endParaRPr lang="en-US" sz="1000" dirty="0"/>
          </a:p>
        </p:txBody>
      </p:sp>
      <p:sp>
        <p:nvSpPr>
          <p:cNvPr id="41" name="Text 39"/>
          <p:cNvSpPr txBox="1"/>
          <p:nvPr/>
        </p:nvSpPr>
        <p:spPr>
          <a:xfrm>
            <a:off x="10981944" y="5056632"/>
            <a:ext cx="749808" cy="548640"/>
          </a:xfrm>
          <a:prstGeom prst="roundRect">
            <a:avLst>
              <a:gd name="adj" fmla="val 10000"/>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rPr>
              <a:t>05</a:t>
            </a:r>
            <a:endParaRPr lang="en-US" sz="1800" dirty="0"/>
          </a:p>
        </p:txBody>
      </p:sp>
      <p:sp>
        <p:nvSpPr>
          <p:cNvPr id="42" name="Text 40"/>
          <p:cNvSpPr txBox="1"/>
          <p:nvPr/>
        </p:nvSpPr>
        <p:spPr>
          <a:xfrm>
            <a:off x="10936224" y="5641848"/>
            <a:ext cx="841248" cy="237744"/>
          </a:xfrm>
          <a:prstGeom prst="rect">
            <a:avLst/>
          </a:prstGeom>
          <a:noFill/>
          <a:ln/>
        </p:spPr>
        <p:txBody>
          <a:bodyPr wrap="square" lIns="0" tIns="0" rIns="0" bIns="0" rtlCol="0" anchor="ctr"/>
          <a:lstStyle/>
          <a:p>
            <a:pPr algn="ctr" indent="0" marL="0">
              <a:buNone/>
            </a:pPr>
            <a:r>
              <a:rPr lang="en-US" sz="1000" dirty="0">
                <a:solidFill>
                  <a:schemeClr val="tx1"/>
                </a:solidFill>
              </a:rPr>
              <a:t>umbral</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92608"/>
          </a:xfrm>
          <a:prstGeom prst="rect">
            <a:avLst/>
          </a:prstGeom>
          <a:noFill/>
          <a:ln/>
        </p:spPr>
        <p:txBody>
          <a:bodyPr wrap="square" lIns="0" tIns="0" rIns="0" bIns="0" rtlCol="0"/>
          <a:lstStyle/>
          <a:p>
            <a:pPr indent="0" marL="0">
              <a:buNone/>
            </a:pPr>
            <a:r>
              <a:rPr lang="en-US" sz="1200" b="1" spc="300" kern="0" dirty="0">
                <a:solidFill>
                  <a:schemeClr val="accent1"/>
                </a:solidFill>
              </a:rPr>
              <a:t>ARQUITECTURA DE COMPONENTES FUNCIONALES</a:t>
            </a:r>
            <a:endParaRPr lang="en-US" sz="1200" dirty="0"/>
          </a:p>
        </p:txBody>
      </p:sp>
      <p:sp>
        <p:nvSpPr>
          <p:cNvPr id="3" name="Text 0"/>
          <p:cNvSpPr/>
          <p:nvPr>
            <p:ph idx="101" type="title" hasCustomPrompt="1"/>
          </p:nvPr>
        </p:nvSpPr>
        <p:spPr>
          <a:xfrm>
            <a:off x="457200" y="566928"/>
            <a:ext cx="11247120" cy="640080"/>
          </a:xfrm>
          <a:prstGeom prst="rect">
            <a:avLst/>
          </a:prstGeom>
          <a:noFill/>
          <a:ln/>
        </p:spPr>
        <p:txBody>
          <a:bodyPr wrap="square" lIns="0" tIns="0" rIns="0" bIns="0" rtlCol="0" anchor="t"/>
          <a:lstStyle/>
          <a:p>
            <a:pPr indent="0" marL="0">
              <a:buNone/>
            </a:pPr>
            <a:r>
              <a:rPr lang="en-US" sz="3200" b="1" dirty="0">
                <a:solidFill>
                  <a:schemeClr val="tx2"/>
                </a:solidFill>
              </a:rPr>
              <a:t>Once componentes, sin ciclos</a:t>
            </a:r>
            <a:endParaRPr lang="en-US" sz="3200" dirty="0"/>
          </a:p>
        </p:txBody>
      </p:sp>
      <p:sp>
        <p:nvSpPr>
          <p:cNvPr id="4" name="Text 2"/>
          <p:cNvSpPr txBox="1"/>
          <p:nvPr/>
        </p:nvSpPr>
        <p:spPr>
          <a:xfrm>
            <a:off x="2514600" y="1325880"/>
            <a:ext cx="9235440" cy="4983480"/>
          </a:xfrm>
          <a:prstGeom prst="roundRect">
            <a:avLst>
              <a:gd name="adj" fmla="val 1101"/>
            </a:avLst>
          </a:prstGeom>
          <a:solidFill>
            <a:schemeClr val="bg2"/>
          </a:solidFill>
          <a:ln w="12700">
            <a:solidFill>
              <a:schemeClr val="accent4"/>
            </a:solidFill>
            <a:prstDash val="dash"/>
          </a:ln>
        </p:spPr>
        <p:txBody>
          <a:bodyPr wrap="square" lIns="50800" tIns="127000" rIns="127000" bIns="50800" rtlCol="0" anchor="t"/>
          <a:lstStyle/>
          <a:p>
            <a:pPr algn="r" indent="0" marL="0">
              <a:buNone/>
            </a:pPr>
            <a:r>
              <a:rPr lang="en-US" sz="1000" i="1" dirty="0">
                <a:solidFill>
                  <a:schemeClr val="accent4"/>
                </a:solidFill>
              </a:rPr>
              <a:t>Clúster local · ningún componente llama fuera (AUTONOMIA-04)</a:t>
            </a:r>
            <a:endParaRPr lang="en-US" sz="1000" dirty="0"/>
          </a:p>
        </p:txBody>
      </p:sp>
      <p:sp>
        <p:nvSpPr>
          <p:cNvPr id="5" name="Text 3"/>
          <p:cNvSpPr txBox="1"/>
          <p:nvPr/>
        </p:nvSpPr>
        <p:spPr>
          <a:xfrm>
            <a:off x="457200" y="3383280"/>
            <a:ext cx="1783080" cy="1005840"/>
          </a:xfrm>
          <a:prstGeom prst="roundRect">
            <a:avLst>
              <a:gd name="adj" fmla="val 7273"/>
            </a:avLst>
          </a:prstGeom>
          <a:solidFill>
            <a:schemeClr val="tx2"/>
          </a:solidFill>
          <a:ln>
            <a:solidFill>
              <a:schemeClr val="tx2"/>
            </a:solidFill>
          </a:ln>
        </p:spPr>
        <p:txBody>
          <a:bodyPr wrap="square" lIns="50800" tIns="76200" rIns="76200" bIns="50800" rtlCol="0" anchor="ctr"/>
          <a:lstStyle/>
          <a:p>
            <a:pPr algn="ctr" indent="0" marL="0">
              <a:buNone/>
            </a:pPr>
            <a:r>
              <a:rPr lang="en-US" sz="1300" b="1" dirty="0">
                <a:solidFill>
                  <a:schemeClr val="bg1"/>
                </a:solidFill>
              </a:rPr>
              <a:t>AnalystConsole</a:t>
            </a:r>
            <a:endParaRPr lang="en-US" sz="1300" dirty="0"/>
          </a:p>
          <a:p>
            <a:pPr algn="ctr" indent="0" marL="0">
              <a:buNone/>
            </a:pPr>
            <a:r>
              <a:rPr lang="en-US" sz="1000" dirty="0">
                <a:solidFill>
                  <a:schemeClr val="accent5"/>
                </a:solidFill>
              </a:rPr>
              <a:t>consola web</a:t>
            </a:r>
            <a:endParaRPr lang="en-US" sz="1300" dirty="0"/>
          </a:p>
        </p:txBody>
      </p:sp>
      <p:sp>
        <p:nvSpPr>
          <p:cNvPr id="6" name="Text 4"/>
          <p:cNvSpPr txBox="1"/>
          <p:nvPr/>
        </p:nvSpPr>
        <p:spPr>
          <a:xfrm>
            <a:off x="2743200" y="3383280"/>
            <a:ext cx="1783080" cy="1005840"/>
          </a:xfrm>
          <a:prstGeom prst="roundRect">
            <a:avLst>
              <a:gd name="adj" fmla="val 7273"/>
            </a:avLst>
          </a:prstGeom>
          <a:solidFill>
            <a:schemeClr val="tx2"/>
          </a:solidFill>
          <a:ln>
            <a:solidFill>
              <a:schemeClr val="tx2"/>
            </a:solidFill>
          </a:ln>
        </p:spPr>
        <p:txBody>
          <a:bodyPr wrap="square" lIns="50800" tIns="76200" rIns="76200" bIns="50800" rtlCol="0" anchor="ctr"/>
          <a:lstStyle/>
          <a:p>
            <a:pPr algn="ctr" indent="0" marL="0">
              <a:buNone/>
            </a:pPr>
            <a:r>
              <a:rPr lang="en-US" sz="1300" b="1" dirty="0">
                <a:solidFill>
                  <a:schemeClr val="bg1"/>
                </a:solidFill>
              </a:rPr>
              <a:t>ConsoleApi</a:t>
            </a:r>
            <a:endParaRPr lang="en-US" sz="1300" dirty="0"/>
          </a:p>
          <a:p>
            <a:pPr algn="ctr" indent="0" marL="0">
              <a:buNone/>
            </a:pPr>
            <a:r>
              <a:rPr lang="en-US" sz="1000" dirty="0">
                <a:solidFill>
                  <a:schemeClr val="accent5"/>
                </a:solidFill>
              </a:rPr>
              <a:t>fachada · autorización</a:t>
            </a:r>
            <a:endParaRPr lang="en-US" sz="1300" dirty="0"/>
          </a:p>
        </p:txBody>
      </p:sp>
      <p:sp>
        <p:nvSpPr>
          <p:cNvPr id="7" name="Shape 5"/>
          <p:cNvSpPr/>
          <p:nvPr/>
        </p:nvSpPr>
        <p:spPr>
          <a:xfrm>
            <a:off x="2240280" y="3886200"/>
            <a:ext cx="502920" cy="0"/>
          </a:xfrm>
          <a:prstGeom prst="line">
            <a:avLst/>
          </a:prstGeom>
          <a:noFill/>
          <a:ln w="19050">
            <a:solidFill>
              <a:schemeClr val="tx2"/>
            </a:solidFill>
            <a:prstDash val="solid"/>
            <a:tailEnd type="triangle"/>
          </a:ln>
        </p:spPr>
      </p:sp>
      <p:sp>
        <p:nvSpPr>
          <p:cNvPr id="8" name="Text 6"/>
          <p:cNvSpPr txBox="1"/>
          <p:nvPr/>
        </p:nvSpPr>
        <p:spPr>
          <a:xfrm>
            <a:off x="2240280" y="3593592"/>
            <a:ext cx="502920" cy="228600"/>
          </a:xfrm>
          <a:prstGeom prst="rect">
            <a:avLst/>
          </a:prstGeom>
          <a:noFill/>
          <a:ln/>
        </p:spPr>
        <p:txBody>
          <a:bodyPr wrap="square" lIns="0" tIns="0" rIns="0" bIns="0" rtlCol="0" anchor="ctr"/>
          <a:lstStyle/>
          <a:p>
            <a:pPr algn="ctr" indent="0" marL="0">
              <a:buNone/>
            </a:pPr>
            <a:r>
              <a:rPr lang="en-US" sz="1000" dirty="0">
                <a:solidFill>
                  <a:schemeClr val="accent4"/>
                </a:solidFill>
              </a:rPr>
              <a:t>REST</a:t>
            </a:r>
            <a:endParaRPr lang="en-US" sz="1000" dirty="0"/>
          </a:p>
        </p:txBody>
      </p:sp>
      <p:sp>
        <p:nvSpPr>
          <p:cNvPr id="9" name="Text 7"/>
          <p:cNvSpPr txBox="1"/>
          <p:nvPr/>
        </p:nvSpPr>
        <p:spPr>
          <a:xfrm>
            <a:off x="5074920" y="1691640"/>
            <a:ext cx="2148840" cy="749808"/>
          </a:xfrm>
          <a:prstGeom prst="roundRect">
            <a:avLst>
              <a:gd name="adj" fmla="val 9756"/>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IdentityAccess</a:t>
            </a:r>
            <a:endParaRPr lang="en-US" sz="1300" dirty="0"/>
          </a:p>
          <a:p>
            <a:pPr algn="ctr" indent="0" marL="0">
              <a:buNone/>
            </a:pPr>
            <a:r>
              <a:rPr lang="en-US" sz="1000" dirty="0">
                <a:solidFill>
                  <a:schemeClr val="tx1"/>
                </a:solidFill>
              </a:rPr>
              <a:t>usuarios y roles</a:t>
            </a:r>
            <a:endParaRPr lang="en-US" sz="1300" dirty="0"/>
          </a:p>
        </p:txBody>
      </p:sp>
      <p:sp>
        <p:nvSpPr>
          <p:cNvPr id="10" name="Shape 8"/>
          <p:cNvSpPr/>
          <p:nvPr/>
        </p:nvSpPr>
        <p:spPr>
          <a:xfrm flipV="1">
            <a:off x="4526280" y="2066544"/>
            <a:ext cx="548640" cy="1819656"/>
          </a:xfrm>
          <a:prstGeom prst="line">
            <a:avLst/>
          </a:prstGeom>
          <a:noFill/>
          <a:ln w="12700">
            <a:solidFill>
              <a:schemeClr val="accent4"/>
            </a:solidFill>
            <a:prstDash val="solid"/>
            <a:tailEnd type="triangle"/>
          </a:ln>
        </p:spPr>
      </p:sp>
      <p:sp>
        <p:nvSpPr>
          <p:cNvPr id="11" name="Text 9"/>
          <p:cNvSpPr txBox="1"/>
          <p:nvPr/>
        </p:nvSpPr>
        <p:spPr>
          <a:xfrm>
            <a:off x="5074920" y="2624328"/>
            <a:ext cx="2148840" cy="749808"/>
          </a:xfrm>
          <a:prstGeom prst="roundRect">
            <a:avLst>
              <a:gd name="adj" fmla="val 9756"/>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TruthFrame</a:t>
            </a:r>
            <a:endParaRPr lang="en-US" sz="1300" dirty="0"/>
          </a:p>
          <a:p>
            <a:pPr algn="ctr" indent="0" marL="0">
              <a:buNone/>
            </a:pPr>
            <a:r>
              <a:rPr lang="en-US" sz="1000" dirty="0">
                <a:solidFill>
                  <a:schemeClr val="tx1"/>
                </a:solidFill>
              </a:rPr>
              <a:t>escenarios indexados</a:t>
            </a:r>
            <a:endParaRPr lang="en-US" sz="1300" dirty="0"/>
          </a:p>
        </p:txBody>
      </p:sp>
      <p:sp>
        <p:nvSpPr>
          <p:cNvPr id="12" name="Shape 10"/>
          <p:cNvSpPr/>
          <p:nvPr/>
        </p:nvSpPr>
        <p:spPr>
          <a:xfrm flipV="1">
            <a:off x="4526280" y="2999232"/>
            <a:ext cx="548640" cy="886968"/>
          </a:xfrm>
          <a:prstGeom prst="line">
            <a:avLst/>
          </a:prstGeom>
          <a:noFill/>
          <a:ln w="12700">
            <a:solidFill>
              <a:schemeClr val="accent4"/>
            </a:solidFill>
            <a:prstDash val="solid"/>
            <a:tailEnd type="triangle"/>
          </a:ln>
        </p:spPr>
      </p:sp>
      <p:sp>
        <p:nvSpPr>
          <p:cNvPr id="13" name="Text 11"/>
          <p:cNvSpPr txBox="1"/>
          <p:nvPr/>
        </p:nvSpPr>
        <p:spPr>
          <a:xfrm>
            <a:off x="5074920" y="3557016"/>
            <a:ext cx="2148840" cy="749808"/>
          </a:xfrm>
          <a:prstGeom prst="roundRect">
            <a:avLst>
              <a:gd name="adj" fmla="val 9756"/>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InterviewSession</a:t>
            </a:r>
            <a:endParaRPr lang="en-US" sz="1300" dirty="0"/>
          </a:p>
          <a:p>
            <a:pPr algn="ctr" indent="0" marL="0">
              <a:buNone/>
            </a:pPr>
            <a:r>
              <a:rPr lang="en-US" sz="1000" dirty="0">
                <a:solidFill>
                  <a:schemeClr val="tx1"/>
                </a:solidFill>
              </a:rPr>
              <a:t>sesión, turnos, traspaso</a:t>
            </a:r>
            <a:endParaRPr lang="en-US" sz="1300" dirty="0"/>
          </a:p>
        </p:txBody>
      </p:sp>
      <p:sp>
        <p:nvSpPr>
          <p:cNvPr id="14" name="Shape 12"/>
          <p:cNvSpPr/>
          <p:nvPr/>
        </p:nvSpPr>
        <p:spPr>
          <a:xfrm>
            <a:off x="4526280" y="3886200"/>
            <a:ext cx="548640" cy="45720"/>
          </a:xfrm>
          <a:prstGeom prst="line">
            <a:avLst/>
          </a:prstGeom>
          <a:noFill/>
          <a:ln w="12700">
            <a:solidFill>
              <a:schemeClr val="accent4"/>
            </a:solidFill>
            <a:prstDash val="solid"/>
            <a:tailEnd type="triangle"/>
          </a:ln>
        </p:spPr>
      </p:sp>
      <p:sp>
        <p:nvSpPr>
          <p:cNvPr id="15" name="Text 13"/>
          <p:cNvSpPr txBox="1"/>
          <p:nvPr/>
        </p:nvSpPr>
        <p:spPr>
          <a:xfrm>
            <a:off x="5074920" y="4489704"/>
            <a:ext cx="2148840" cy="749808"/>
          </a:xfrm>
          <a:prstGeom prst="roundRect">
            <a:avLst>
              <a:gd name="adj" fmla="val 9756"/>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HumanReview</a:t>
            </a:r>
            <a:endParaRPr lang="en-US" sz="1300" dirty="0"/>
          </a:p>
          <a:p>
            <a:pPr algn="ctr" indent="0" marL="0">
              <a:buNone/>
            </a:pPr>
            <a:r>
              <a:rPr lang="en-US" sz="1000" dirty="0">
                <a:solidFill>
                  <a:schemeClr val="tx1"/>
                </a:solidFill>
              </a:rPr>
              <a:t>sugerencias y decisiones</a:t>
            </a:r>
            <a:endParaRPr lang="en-US" sz="1300" dirty="0"/>
          </a:p>
        </p:txBody>
      </p:sp>
      <p:sp>
        <p:nvSpPr>
          <p:cNvPr id="16" name="Shape 14"/>
          <p:cNvSpPr/>
          <p:nvPr/>
        </p:nvSpPr>
        <p:spPr>
          <a:xfrm>
            <a:off x="4526280" y="3886200"/>
            <a:ext cx="548640" cy="978408"/>
          </a:xfrm>
          <a:prstGeom prst="line">
            <a:avLst/>
          </a:prstGeom>
          <a:noFill/>
          <a:ln w="12700">
            <a:solidFill>
              <a:schemeClr val="accent4"/>
            </a:solidFill>
            <a:prstDash val="solid"/>
            <a:tailEnd type="triangle"/>
          </a:ln>
        </p:spPr>
      </p:sp>
      <p:sp>
        <p:nvSpPr>
          <p:cNvPr id="17" name="Text 15"/>
          <p:cNvSpPr txBox="1"/>
          <p:nvPr/>
        </p:nvSpPr>
        <p:spPr>
          <a:xfrm>
            <a:off x="5074920" y="5422392"/>
            <a:ext cx="2148840" cy="749808"/>
          </a:xfrm>
          <a:prstGeom prst="roundRect">
            <a:avLst>
              <a:gd name="adj" fmla="val 9756"/>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ForensicReport</a:t>
            </a:r>
            <a:endParaRPr lang="en-US" sz="1300" dirty="0"/>
          </a:p>
          <a:p>
            <a:pPr algn="ctr" indent="0" marL="0">
              <a:buNone/>
            </a:pPr>
            <a:r>
              <a:rPr lang="en-US" sz="1000" dirty="0">
                <a:solidFill>
                  <a:schemeClr val="tx1"/>
                </a:solidFill>
              </a:rPr>
              <a:t>consolidación y versiones</a:t>
            </a:r>
            <a:endParaRPr lang="en-US" sz="1300" dirty="0"/>
          </a:p>
        </p:txBody>
      </p:sp>
      <p:sp>
        <p:nvSpPr>
          <p:cNvPr id="18" name="Shape 16"/>
          <p:cNvSpPr/>
          <p:nvPr/>
        </p:nvSpPr>
        <p:spPr>
          <a:xfrm>
            <a:off x="4526280" y="3886200"/>
            <a:ext cx="548640" cy="1911096"/>
          </a:xfrm>
          <a:prstGeom prst="line">
            <a:avLst/>
          </a:prstGeom>
          <a:noFill/>
          <a:ln w="12700">
            <a:solidFill>
              <a:schemeClr val="accent4"/>
            </a:solidFill>
            <a:prstDash val="solid"/>
            <a:tailEnd type="triangle"/>
          </a:ln>
        </p:spPr>
      </p:sp>
      <p:sp>
        <p:nvSpPr>
          <p:cNvPr id="19" name="Text 17"/>
          <p:cNvSpPr txBox="1"/>
          <p:nvPr/>
        </p:nvSpPr>
        <p:spPr>
          <a:xfrm>
            <a:off x="7863840" y="2240280"/>
            <a:ext cx="1828800" cy="914400"/>
          </a:xfrm>
          <a:prstGeom prst="roundRect">
            <a:avLst>
              <a:gd name="adj" fmla="val 8000"/>
            </a:avLst>
          </a:prstGeom>
          <a:solidFill>
            <a:schemeClr val="accent2">
              <a:alpha val="20000"/>
            </a:schemeClr>
          </a:solidFill>
          <a:ln w="15875">
            <a:solidFill>
              <a:schemeClr val="accent2"/>
            </a:solidFill>
          </a:ln>
        </p:spPr>
        <p:txBody>
          <a:bodyPr wrap="square" lIns="50800" tIns="76200" rIns="76200" bIns="50800" rtlCol="0" anchor="ctr"/>
          <a:lstStyle/>
          <a:p>
            <a:pPr algn="ctr" indent="0" marL="0">
              <a:buNone/>
            </a:pPr>
            <a:r>
              <a:rPr lang="en-US" sz="1200" b="1" dirty="0">
                <a:solidFill>
                  <a:schemeClr val="tx2"/>
                </a:solidFill>
              </a:rPr>
              <a:t>SemanticEvaluation</a:t>
            </a:r>
            <a:endParaRPr lang="en-US" sz="1200" dirty="0"/>
          </a:p>
          <a:p>
            <a:pPr algn="ctr" indent="0" marL="0">
              <a:buNone/>
            </a:pPr>
            <a:r>
              <a:rPr lang="en-US" sz="1000" dirty="0">
                <a:solidFill>
                  <a:schemeClr val="tx1"/>
                </a:solidFill>
              </a:rPr>
              <a:t>guardia del umbral y juez</a:t>
            </a:r>
            <a:endParaRPr lang="en-US" sz="1200" dirty="0"/>
          </a:p>
        </p:txBody>
      </p:sp>
      <p:sp>
        <p:nvSpPr>
          <p:cNvPr id="20" name="Text 18"/>
          <p:cNvSpPr txBox="1"/>
          <p:nvPr/>
        </p:nvSpPr>
        <p:spPr>
          <a:xfrm>
            <a:off x="7863840" y="4343400"/>
            <a:ext cx="1828800" cy="914400"/>
          </a:xfrm>
          <a:prstGeom prst="roundRect">
            <a:avLst>
              <a:gd name="adj" fmla="val 8000"/>
            </a:avLst>
          </a:prstGeom>
          <a:solidFill>
            <a:schemeClr val="accent2">
              <a:alpha val="20000"/>
            </a:schemeClr>
          </a:solidFill>
          <a:ln w="15875">
            <a:solidFill>
              <a:schemeClr val="accent2"/>
            </a:solidFill>
          </a:ln>
        </p:spPr>
        <p:txBody>
          <a:bodyPr wrap="square" lIns="50800" tIns="76200" rIns="76200" bIns="50800" rtlCol="0" anchor="ctr"/>
          <a:lstStyle/>
          <a:p>
            <a:pPr algn="ctr" indent="0" marL="0">
              <a:buNone/>
            </a:pPr>
            <a:r>
              <a:rPr lang="en-US" sz="1200" b="1" dirty="0">
                <a:solidFill>
                  <a:schemeClr val="tx2"/>
                </a:solidFill>
              </a:rPr>
              <a:t>SpeechProcessing</a:t>
            </a:r>
            <a:endParaRPr lang="en-US" sz="1200" dirty="0"/>
          </a:p>
          <a:p>
            <a:pPr algn="ctr" indent="0" marL="0">
              <a:buNone/>
            </a:pPr>
            <a:r>
              <a:rPr lang="en-US" sz="1000" dirty="0">
                <a:solidFill>
                  <a:schemeClr val="tx1"/>
                </a:solidFill>
              </a:rPr>
              <a:t>voz ↔ texto (SHOULD)</a:t>
            </a:r>
            <a:endParaRPr lang="en-US" sz="1200" dirty="0"/>
          </a:p>
        </p:txBody>
      </p:sp>
      <p:sp>
        <p:nvSpPr>
          <p:cNvPr id="21" name="Shape 19"/>
          <p:cNvSpPr/>
          <p:nvPr/>
        </p:nvSpPr>
        <p:spPr>
          <a:xfrm flipV="1">
            <a:off x="7223760" y="2697480"/>
            <a:ext cx="640080" cy="1234440"/>
          </a:xfrm>
          <a:prstGeom prst="line">
            <a:avLst/>
          </a:prstGeom>
          <a:noFill/>
          <a:ln w="19050">
            <a:solidFill>
              <a:schemeClr val="accent2"/>
            </a:solidFill>
            <a:prstDash val="dash"/>
            <a:tailEnd type="triangle"/>
          </a:ln>
        </p:spPr>
      </p:sp>
      <p:sp>
        <p:nvSpPr>
          <p:cNvPr id="22" name="Shape 20"/>
          <p:cNvSpPr/>
          <p:nvPr/>
        </p:nvSpPr>
        <p:spPr>
          <a:xfrm>
            <a:off x="7223760" y="3931920"/>
            <a:ext cx="640080" cy="868680"/>
          </a:xfrm>
          <a:prstGeom prst="line">
            <a:avLst/>
          </a:prstGeom>
          <a:noFill/>
          <a:ln w="19050">
            <a:solidFill>
              <a:schemeClr val="accent2"/>
            </a:solidFill>
            <a:prstDash val="dash"/>
            <a:tailEnd type="triangle"/>
          </a:ln>
        </p:spPr>
      </p:sp>
      <p:sp>
        <p:nvSpPr>
          <p:cNvPr id="23" name="Text 21"/>
          <p:cNvSpPr txBox="1"/>
          <p:nvPr/>
        </p:nvSpPr>
        <p:spPr>
          <a:xfrm>
            <a:off x="7269480" y="3794760"/>
            <a:ext cx="548640" cy="274320"/>
          </a:xfrm>
          <a:prstGeom prst="rect">
            <a:avLst/>
          </a:prstGeom>
          <a:noFill/>
          <a:ln/>
        </p:spPr>
        <p:txBody>
          <a:bodyPr wrap="square" lIns="0" tIns="0" rIns="0" bIns="0" rtlCol="0" anchor="ctr"/>
          <a:lstStyle/>
          <a:p>
            <a:pPr algn="ctr" indent="0" marL="0">
              <a:buNone/>
            </a:pPr>
            <a:r>
              <a:rPr lang="en-US" sz="1000" i="1" dirty="0">
                <a:solidFill>
                  <a:schemeClr val="accent2"/>
                </a:solidFill>
              </a:rPr>
              <a:t>colas</a:t>
            </a:r>
            <a:endParaRPr lang="en-US" sz="1000" dirty="0"/>
          </a:p>
        </p:txBody>
      </p:sp>
      <p:sp>
        <p:nvSpPr>
          <p:cNvPr id="24" name="Text 22"/>
          <p:cNvSpPr txBox="1"/>
          <p:nvPr/>
        </p:nvSpPr>
        <p:spPr>
          <a:xfrm>
            <a:off x="10058400" y="1691640"/>
            <a:ext cx="1508760" cy="822960"/>
          </a:xfrm>
          <a:prstGeom prst="roundRect">
            <a:avLst>
              <a:gd name="adj" fmla="val 8889"/>
            </a:avLst>
          </a:prstGeom>
          <a:solidFill>
            <a:schemeClr val="bg1"/>
          </a:solidFill>
          <a:ln w="15875">
            <a:solidFill>
              <a:schemeClr val="accent4"/>
            </a:solidFill>
            <a:prstDash val="dash"/>
          </a:ln>
        </p:spPr>
        <p:txBody>
          <a:bodyPr wrap="square" lIns="50800" tIns="76200" rIns="76200" bIns="50800" rtlCol="0" anchor="ctr"/>
          <a:lstStyle/>
          <a:p>
            <a:pPr algn="ctr" indent="0" marL="0">
              <a:buNone/>
            </a:pPr>
            <a:r>
              <a:rPr lang="en-US" sz="1200" b="1" dirty="0">
                <a:solidFill>
                  <a:schemeClr val="tx2"/>
                </a:solidFill>
              </a:rPr>
              <a:t>IntegrityPolicy</a:t>
            </a:r>
            <a:endParaRPr lang="en-US" sz="1200" dirty="0"/>
          </a:p>
          <a:p>
            <a:pPr algn="ctr" indent="0" marL="0">
              <a:buNone/>
            </a:pPr>
            <a:r>
              <a:rPr lang="en-US" sz="1000" dirty="0">
                <a:solidFill>
                  <a:schemeClr val="tx1"/>
                </a:solidFill>
              </a:rPr>
              <a:t>vocabulario prohibido</a:t>
            </a:r>
            <a:endParaRPr lang="en-US" sz="1200" dirty="0"/>
          </a:p>
        </p:txBody>
      </p:sp>
      <p:sp>
        <p:nvSpPr>
          <p:cNvPr id="25" name="Text 23"/>
          <p:cNvSpPr txBox="1"/>
          <p:nvPr/>
        </p:nvSpPr>
        <p:spPr>
          <a:xfrm>
            <a:off x="10058400" y="3200400"/>
            <a:ext cx="1508760" cy="914400"/>
          </a:xfrm>
          <a:prstGeom prst="roundRect">
            <a:avLst>
              <a:gd name="adj" fmla="val 8000"/>
            </a:avLst>
          </a:prstGeom>
          <a:solidFill>
            <a:schemeClr val="bg1"/>
          </a:solidFill>
          <a:ln w="15875">
            <a:solidFill>
              <a:schemeClr val="accent4"/>
            </a:solidFill>
            <a:prstDash val="dash"/>
          </a:ln>
        </p:spPr>
        <p:txBody>
          <a:bodyPr wrap="square" lIns="50800" tIns="76200" rIns="76200" bIns="50800" rtlCol="0" anchor="ctr"/>
          <a:lstStyle/>
          <a:p>
            <a:pPr algn="ctr" indent="0" marL="0">
              <a:buNone/>
            </a:pPr>
            <a:r>
              <a:rPr lang="en-US" sz="1200" b="1" dirty="0">
                <a:solidFill>
                  <a:schemeClr val="tx2"/>
                </a:solidFill>
              </a:rPr>
              <a:t>ModelGateway</a:t>
            </a:r>
            <a:endParaRPr lang="en-US" sz="1200" dirty="0"/>
          </a:p>
          <a:p>
            <a:pPr algn="ctr" indent="0" marL="0">
              <a:buNone/>
            </a:pPr>
            <a:r>
              <a:rPr lang="en-US" sz="1000" dirty="0">
                <a:solidFill>
                  <a:schemeClr val="tx1"/>
                </a:solidFill>
              </a:rPr>
              <a:t>puerto único a modelos</a:t>
            </a:r>
            <a:endParaRPr lang="en-US" sz="1200" dirty="0"/>
          </a:p>
        </p:txBody>
      </p:sp>
      <p:sp>
        <p:nvSpPr>
          <p:cNvPr id="26" name="Shape 24"/>
          <p:cNvSpPr/>
          <p:nvPr/>
        </p:nvSpPr>
        <p:spPr>
          <a:xfrm flipV="1">
            <a:off x="9692640" y="2103120"/>
            <a:ext cx="365760" cy="411480"/>
          </a:xfrm>
          <a:prstGeom prst="line">
            <a:avLst/>
          </a:prstGeom>
          <a:noFill/>
          <a:ln w="15875">
            <a:solidFill>
              <a:schemeClr val="accent4"/>
            </a:solidFill>
            <a:prstDash val="solid"/>
            <a:tailEnd type="triangle"/>
          </a:ln>
        </p:spPr>
      </p:sp>
      <p:sp>
        <p:nvSpPr>
          <p:cNvPr id="27" name="Shape 25"/>
          <p:cNvSpPr/>
          <p:nvPr/>
        </p:nvSpPr>
        <p:spPr>
          <a:xfrm>
            <a:off x="9692640" y="2880360"/>
            <a:ext cx="365760" cy="640080"/>
          </a:xfrm>
          <a:prstGeom prst="line">
            <a:avLst/>
          </a:prstGeom>
          <a:noFill/>
          <a:ln w="15875">
            <a:solidFill>
              <a:schemeClr val="accent4"/>
            </a:solidFill>
            <a:prstDash val="solid"/>
            <a:tailEnd type="triangle"/>
          </a:ln>
        </p:spPr>
      </p:sp>
      <p:sp>
        <p:nvSpPr>
          <p:cNvPr id="28" name="Shape 26"/>
          <p:cNvSpPr/>
          <p:nvPr/>
        </p:nvSpPr>
        <p:spPr>
          <a:xfrm flipV="1">
            <a:off x="9692640" y="3794760"/>
            <a:ext cx="365760" cy="1005840"/>
          </a:xfrm>
          <a:prstGeom prst="line">
            <a:avLst/>
          </a:prstGeom>
          <a:noFill/>
          <a:ln w="15875">
            <a:solidFill>
              <a:schemeClr val="accent4"/>
            </a:solidFill>
            <a:prstDash val="solid"/>
            <a:tailEnd type="triangle"/>
          </a:ln>
        </p:spPr>
      </p:sp>
      <p:sp>
        <p:nvSpPr>
          <p:cNvPr id="29" name="Shape 27"/>
          <p:cNvSpPr/>
          <p:nvPr/>
        </p:nvSpPr>
        <p:spPr>
          <a:xfrm>
            <a:off x="457200" y="1463040"/>
            <a:ext cx="274320" cy="219456"/>
          </a:xfrm>
          <a:prstGeom prst="roundRect">
            <a:avLst>
              <a:gd name="adj" fmla="val 16667"/>
            </a:avLst>
          </a:prstGeom>
          <a:solidFill>
            <a:schemeClr val="tx2"/>
          </a:solidFill>
          <a:ln w="12700">
            <a:solidFill>
              <a:schemeClr val="tx2"/>
            </a:solidFill>
            <a:prstDash val="solid"/>
          </a:ln>
        </p:spPr>
      </p:sp>
      <p:sp>
        <p:nvSpPr>
          <p:cNvPr id="30" name="Text 28"/>
          <p:cNvSpPr txBox="1"/>
          <p:nvPr/>
        </p:nvSpPr>
        <p:spPr>
          <a:xfrm>
            <a:off x="822960" y="1435608"/>
            <a:ext cx="1463040" cy="274320"/>
          </a:xfrm>
          <a:prstGeom prst="rect">
            <a:avLst/>
          </a:prstGeom>
          <a:noFill/>
          <a:ln/>
        </p:spPr>
        <p:txBody>
          <a:bodyPr wrap="square" lIns="0" tIns="0" rIns="0" bIns="0" rtlCol="0" anchor="ctr"/>
          <a:lstStyle/>
          <a:p>
            <a:pPr algn="l" indent="0" marL="0">
              <a:buNone/>
            </a:pPr>
            <a:r>
              <a:rPr lang="en-US" sz="1100" dirty="0">
                <a:solidFill>
                  <a:schemeClr val="tx1"/>
                </a:solidFill>
              </a:rPr>
              <a:t>Entrada</a:t>
            </a:r>
            <a:endParaRPr lang="en-US" sz="1100" dirty="0"/>
          </a:p>
        </p:txBody>
      </p:sp>
      <p:sp>
        <p:nvSpPr>
          <p:cNvPr id="31" name="Shape 29"/>
          <p:cNvSpPr/>
          <p:nvPr/>
        </p:nvSpPr>
        <p:spPr>
          <a:xfrm>
            <a:off x="457200" y="1828800"/>
            <a:ext cx="274320" cy="219456"/>
          </a:xfrm>
          <a:prstGeom prst="roundRect">
            <a:avLst>
              <a:gd name="adj" fmla="val 16667"/>
            </a:avLst>
          </a:prstGeom>
          <a:solidFill>
            <a:schemeClr val="accent1">
              <a:alpha val="20000"/>
            </a:schemeClr>
          </a:solidFill>
          <a:ln w="12700">
            <a:solidFill>
              <a:schemeClr val="accent1"/>
            </a:solidFill>
            <a:prstDash val="solid"/>
          </a:ln>
        </p:spPr>
      </p:sp>
      <p:sp>
        <p:nvSpPr>
          <p:cNvPr id="32" name="Text 30"/>
          <p:cNvSpPr txBox="1"/>
          <p:nvPr/>
        </p:nvSpPr>
        <p:spPr>
          <a:xfrm>
            <a:off x="822960" y="1801368"/>
            <a:ext cx="1463040" cy="274320"/>
          </a:xfrm>
          <a:prstGeom prst="rect">
            <a:avLst/>
          </a:prstGeom>
          <a:noFill/>
          <a:ln/>
        </p:spPr>
        <p:txBody>
          <a:bodyPr wrap="square" lIns="0" tIns="0" rIns="0" bIns="0" rtlCol="0" anchor="ctr"/>
          <a:lstStyle/>
          <a:p>
            <a:pPr algn="l" indent="0" marL="0">
              <a:buNone/>
            </a:pPr>
            <a:r>
              <a:rPr lang="en-US" sz="1100" dirty="0">
                <a:solidFill>
                  <a:schemeClr val="tx1"/>
                </a:solidFill>
              </a:rPr>
              <a:t>Dominio</a:t>
            </a:r>
            <a:endParaRPr lang="en-US" sz="1100" dirty="0"/>
          </a:p>
        </p:txBody>
      </p:sp>
      <p:sp>
        <p:nvSpPr>
          <p:cNvPr id="33" name="Shape 31"/>
          <p:cNvSpPr/>
          <p:nvPr/>
        </p:nvSpPr>
        <p:spPr>
          <a:xfrm>
            <a:off x="457200" y="2194560"/>
            <a:ext cx="274320" cy="219456"/>
          </a:xfrm>
          <a:prstGeom prst="roundRect">
            <a:avLst>
              <a:gd name="adj" fmla="val 16667"/>
            </a:avLst>
          </a:prstGeom>
          <a:solidFill>
            <a:schemeClr val="accent2">
              <a:alpha val="20000"/>
            </a:schemeClr>
          </a:solidFill>
          <a:ln w="12700">
            <a:solidFill>
              <a:schemeClr val="accent2"/>
            </a:solidFill>
            <a:prstDash val="solid"/>
          </a:ln>
        </p:spPr>
      </p:sp>
      <p:sp>
        <p:nvSpPr>
          <p:cNvPr id="34" name="Text 32"/>
          <p:cNvSpPr txBox="1"/>
          <p:nvPr/>
        </p:nvSpPr>
        <p:spPr>
          <a:xfrm>
            <a:off x="822960" y="2167128"/>
            <a:ext cx="1463040" cy="274320"/>
          </a:xfrm>
          <a:prstGeom prst="rect">
            <a:avLst/>
          </a:prstGeom>
          <a:noFill/>
          <a:ln/>
        </p:spPr>
        <p:txBody>
          <a:bodyPr wrap="square" lIns="0" tIns="0" rIns="0" bIns="0" rtlCol="0" anchor="ctr"/>
          <a:lstStyle/>
          <a:p>
            <a:pPr algn="l" indent="0" marL="0">
              <a:buNone/>
            </a:pPr>
            <a:r>
              <a:rPr lang="en-US" sz="1100" dirty="0">
                <a:solidFill>
                  <a:schemeClr val="tx1"/>
                </a:solidFill>
              </a:rPr>
              <a:t>IA asíncrona</a:t>
            </a:r>
            <a:endParaRPr lang="en-US" sz="1100" dirty="0"/>
          </a:p>
        </p:txBody>
      </p:sp>
      <p:sp>
        <p:nvSpPr>
          <p:cNvPr id="35" name="Shape 33"/>
          <p:cNvSpPr/>
          <p:nvPr/>
        </p:nvSpPr>
        <p:spPr>
          <a:xfrm>
            <a:off x="457200" y="2560320"/>
            <a:ext cx="274320" cy="219456"/>
          </a:xfrm>
          <a:prstGeom prst="roundRect">
            <a:avLst>
              <a:gd name="adj" fmla="val 16667"/>
            </a:avLst>
          </a:prstGeom>
          <a:solidFill>
            <a:schemeClr val="bg1"/>
          </a:solidFill>
          <a:ln w="12700">
            <a:solidFill>
              <a:schemeClr val="accent4"/>
            </a:solidFill>
            <a:prstDash val="dash"/>
          </a:ln>
        </p:spPr>
      </p:sp>
      <p:sp>
        <p:nvSpPr>
          <p:cNvPr id="36" name="Text 34"/>
          <p:cNvSpPr txBox="1"/>
          <p:nvPr/>
        </p:nvSpPr>
        <p:spPr>
          <a:xfrm>
            <a:off x="822960" y="2532888"/>
            <a:ext cx="1463040" cy="274320"/>
          </a:xfrm>
          <a:prstGeom prst="rect">
            <a:avLst/>
          </a:prstGeom>
          <a:noFill/>
          <a:ln/>
        </p:spPr>
        <p:txBody>
          <a:bodyPr wrap="square" lIns="0" tIns="0" rIns="0" bIns="0" rtlCol="0" anchor="ctr"/>
          <a:lstStyle/>
          <a:p>
            <a:pPr algn="l" indent="0" marL="0">
              <a:buNone/>
            </a:pPr>
            <a:r>
              <a:rPr lang="en-US" sz="1100" dirty="0">
                <a:solidFill>
                  <a:schemeClr val="tx1"/>
                </a:solidFill>
              </a:rPr>
              <a:t>Transversal</a:t>
            </a:r>
            <a:endParaRPr lang="en-US" sz="11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92608"/>
          </a:xfrm>
          <a:prstGeom prst="rect">
            <a:avLst/>
          </a:prstGeom>
          <a:noFill/>
          <a:ln/>
        </p:spPr>
        <p:txBody>
          <a:bodyPr wrap="square" lIns="0" tIns="0" rIns="0" bIns="0" rtlCol="0"/>
          <a:lstStyle/>
          <a:p>
            <a:pPr indent="0" marL="0">
              <a:buNone/>
            </a:pPr>
            <a:r>
              <a:rPr lang="en-US" sz="1200" b="1" spc="300" kern="0" dirty="0">
                <a:solidFill>
                  <a:schemeClr val="accent1"/>
                </a:solidFill>
              </a:rPr>
              <a:t>ARQUITECTURA DE SOFTWARE</a:t>
            </a:r>
            <a:endParaRPr lang="en-US" sz="1200" dirty="0"/>
          </a:p>
        </p:txBody>
      </p:sp>
      <p:sp>
        <p:nvSpPr>
          <p:cNvPr id="3" name="Text 0"/>
          <p:cNvSpPr/>
          <p:nvPr>
            <p:ph idx="101" type="title" hasCustomPrompt="1"/>
          </p:nvPr>
        </p:nvSpPr>
        <p:spPr>
          <a:xfrm>
            <a:off x="457200" y="566928"/>
            <a:ext cx="11247120" cy="640080"/>
          </a:xfrm>
          <a:prstGeom prst="rect">
            <a:avLst/>
          </a:prstGeom>
          <a:noFill/>
          <a:ln/>
        </p:spPr>
        <p:txBody>
          <a:bodyPr wrap="square" lIns="0" tIns="0" rIns="0" bIns="0" rtlCol="0" anchor="t"/>
          <a:lstStyle/>
          <a:p>
            <a:pPr indent="0" marL="0">
              <a:buNone/>
            </a:pPr>
            <a:r>
              <a:rPr lang="en-US" sz="3200" b="1" dirty="0">
                <a:solidFill>
                  <a:schemeClr val="tx2"/>
                </a:solidFill>
              </a:rPr>
              <a:t>Cuatro servicios en un Kubernetes local</a:t>
            </a:r>
            <a:endParaRPr lang="en-US" sz="3200" dirty="0"/>
          </a:p>
        </p:txBody>
      </p:sp>
      <p:sp>
        <p:nvSpPr>
          <p:cNvPr id="4" name="Text 2"/>
          <p:cNvSpPr txBox="1"/>
          <p:nvPr/>
        </p:nvSpPr>
        <p:spPr>
          <a:xfrm>
            <a:off x="457200" y="1325880"/>
            <a:ext cx="8641080" cy="4983480"/>
          </a:xfrm>
          <a:prstGeom prst="roundRect">
            <a:avLst>
              <a:gd name="adj" fmla="val 917"/>
            </a:avLst>
          </a:prstGeom>
          <a:solidFill>
            <a:schemeClr val="bg2"/>
          </a:solidFill>
          <a:ln w="19050">
            <a:solidFill>
              <a:schemeClr val="tx2"/>
            </a:solidFill>
          </a:ln>
        </p:spPr>
        <p:txBody>
          <a:bodyPr wrap="square" lIns="76200" tIns="152400" rIns="152400" bIns="76200" rtlCol="0" anchor="b"/>
          <a:lstStyle/>
          <a:p>
            <a:pPr algn="l" indent="0" marL="0">
              <a:buNone/>
            </a:pPr>
            <a:r>
              <a:rPr lang="en-US" sz="1100" b="1" dirty="0">
                <a:solidFill>
                  <a:schemeClr val="tx2"/>
                </a:solidFill>
              </a:rPr>
              <a:t>Kubernetes local · NetworkPolicy: negar todo · CPU suficiente, GPU opcional</a:t>
            </a:r>
            <a:endParaRPr lang="en-US" sz="1100" dirty="0"/>
          </a:p>
        </p:txBody>
      </p:sp>
      <p:sp>
        <p:nvSpPr>
          <p:cNvPr id="5" name="Text 3"/>
          <p:cNvSpPr txBox="1"/>
          <p:nvPr/>
        </p:nvSpPr>
        <p:spPr>
          <a:xfrm>
            <a:off x="685800" y="1828800"/>
            <a:ext cx="1920240" cy="1051560"/>
          </a:xfrm>
          <a:prstGeom prst="roundRect">
            <a:avLst>
              <a:gd name="adj" fmla="val 6957"/>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frontend</a:t>
            </a:r>
            <a:endParaRPr lang="en-US" sz="1300" dirty="0"/>
          </a:p>
          <a:p>
            <a:pPr algn="ctr" indent="0" marL="0">
              <a:buNone/>
            </a:pPr>
            <a:r>
              <a:rPr lang="en-US" sz="1000" dirty="0">
                <a:solidFill>
                  <a:schemeClr val="tx1"/>
                </a:solidFill>
              </a:rPr>
              <a:t>React + TypeScript</a:t>
            </a:r>
            <a:endParaRPr lang="en-US" sz="1300" dirty="0"/>
          </a:p>
        </p:txBody>
      </p:sp>
      <p:sp>
        <p:nvSpPr>
          <p:cNvPr id="6" name="Text 4"/>
          <p:cNvSpPr txBox="1"/>
          <p:nvPr/>
        </p:nvSpPr>
        <p:spPr>
          <a:xfrm>
            <a:off x="2788920" y="1828800"/>
            <a:ext cx="1920240" cy="1051560"/>
          </a:xfrm>
          <a:prstGeom prst="roundRect">
            <a:avLst>
              <a:gd name="adj" fmla="val 6957"/>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session-api</a:t>
            </a:r>
            <a:endParaRPr lang="en-US" sz="1300" dirty="0"/>
          </a:p>
          <a:p>
            <a:pPr algn="ctr" indent="0" marL="0">
              <a:buNone/>
            </a:pPr>
            <a:r>
              <a:rPr lang="en-US" sz="1000" dirty="0">
                <a:solidFill>
                  <a:schemeClr val="tx1"/>
                </a:solidFill>
              </a:rPr>
              <a:t>Python 3.12 · monolito modular (6 componentes)</a:t>
            </a:r>
            <a:endParaRPr lang="en-US" sz="1300" dirty="0"/>
          </a:p>
        </p:txBody>
      </p:sp>
      <p:sp>
        <p:nvSpPr>
          <p:cNvPr id="7" name="Text 5"/>
          <p:cNvSpPr txBox="1"/>
          <p:nvPr/>
        </p:nvSpPr>
        <p:spPr>
          <a:xfrm>
            <a:off x="4892040" y="1828800"/>
            <a:ext cx="1920240" cy="1051560"/>
          </a:xfrm>
          <a:prstGeom prst="roundRect">
            <a:avLst>
              <a:gd name="adj" fmla="val 6957"/>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semantic-agent</a:t>
            </a:r>
            <a:endParaRPr lang="en-US" sz="1300" dirty="0"/>
          </a:p>
          <a:p>
            <a:pPr algn="ctr" indent="0" marL="0">
              <a:buNone/>
            </a:pPr>
            <a:r>
              <a:rPr lang="en-US" sz="1000" dirty="0">
                <a:solidFill>
                  <a:schemeClr val="tx1"/>
                </a:solidFill>
              </a:rPr>
              <a:t>guardia + juez · BD solo lectura</a:t>
            </a:r>
            <a:endParaRPr lang="en-US" sz="1300" dirty="0"/>
          </a:p>
        </p:txBody>
      </p:sp>
      <p:sp>
        <p:nvSpPr>
          <p:cNvPr id="8" name="Text 6"/>
          <p:cNvSpPr txBox="1"/>
          <p:nvPr/>
        </p:nvSpPr>
        <p:spPr>
          <a:xfrm>
            <a:off x="6995160" y="1828800"/>
            <a:ext cx="1920240" cy="1051560"/>
          </a:xfrm>
          <a:prstGeom prst="roundRect">
            <a:avLst>
              <a:gd name="adj" fmla="val 6957"/>
            </a:avLst>
          </a:prstGeom>
          <a:solidFill>
            <a:schemeClr val="accent1">
              <a:alpha val="20000"/>
            </a:schemeClr>
          </a:solidFill>
          <a:ln w="15875">
            <a:solidFill>
              <a:schemeClr val="accent1"/>
            </a:solidFill>
          </a:ln>
        </p:spPr>
        <p:txBody>
          <a:bodyPr wrap="square" lIns="50800" tIns="76200" rIns="76200" bIns="50800" rtlCol="0" anchor="ctr"/>
          <a:lstStyle/>
          <a:p>
            <a:pPr algn="ctr" indent="0" marL="0">
              <a:buNone/>
            </a:pPr>
            <a:r>
              <a:rPr lang="en-US" sz="1300" b="1" dirty="0">
                <a:solidFill>
                  <a:schemeClr val="tx2"/>
                </a:solidFill>
              </a:rPr>
              <a:t>audio-worker</a:t>
            </a:r>
            <a:endParaRPr lang="en-US" sz="1300" dirty="0"/>
          </a:p>
          <a:p>
            <a:pPr algn="ctr" indent="0" marL="0">
              <a:buNone/>
            </a:pPr>
            <a:r>
              <a:rPr lang="en-US" sz="1000" dirty="0">
                <a:solidFill>
                  <a:schemeClr val="tx1"/>
                </a:solidFill>
              </a:rPr>
              <a:t>voz (SHOULD)</a:t>
            </a:r>
            <a:endParaRPr lang="en-US" sz="1300" dirty="0"/>
          </a:p>
        </p:txBody>
      </p:sp>
      <p:sp>
        <p:nvSpPr>
          <p:cNvPr id="9" name="Shape 7"/>
          <p:cNvSpPr/>
          <p:nvPr/>
        </p:nvSpPr>
        <p:spPr>
          <a:xfrm>
            <a:off x="4754880" y="2916936"/>
            <a:ext cx="0" cy="384048"/>
          </a:xfrm>
          <a:prstGeom prst="line">
            <a:avLst/>
          </a:prstGeom>
          <a:noFill/>
          <a:ln w="15875">
            <a:solidFill>
              <a:schemeClr val="accent4"/>
            </a:solidFill>
            <a:prstDash val="solid"/>
            <a:tailEnd type="triangle"/>
          </a:ln>
        </p:spPr>
      </p:sp>
      <p:sp>
        <p:nvSpPr>
          <p:cNvPr id="10" name="Text 8"/>
          <p:cNvSpPr txBox="1"/>
          <p:nvPr/>
        </p:nvSpPr>
        <p:spPr>
          <a:xfrm>
            <a:off x="685800" y="3337560"/>
            <a:ext cx="2926080" cy="1051560"/>
          </a:xfrm>
          <a:prstGeom prst="roundRect">
            <a:avLst>
              <a:gd name="adj" fmla="val 6957"/>
            </a:avLst>
          </a:prstGeom>
          <a:solidFill>
            <a:schemeClr val="accent3"/>
          </a:solidFill>
          <a:ln>
            <a:solidFill>
              <a:schemeClr val="accent3"/>
            </a:solidFill>
          </a:ln>
        </p:spPr>
        <p:txBody>
          <a:bodyPr wrap="square" lIns="50800" tIns="76200" rIns="76200" bIns="50800" rtlCol="0" anchor="ctr"/>
          <a:lstStyle/>
          <a:p>
            <a:pPr algn="ctr" indent="0" marL="0">
              <a:buNone/>
            </a:pPr>
            <a:r>
              <a:rPr lang="en-US" sz="1300" b="1" dirty="0">
                <a:solidFill>
                  <a:schemeClr val="bg1"/>
                </a:solidFill>
              </a:rPr>
              <a:t>PostgreSQL + pgvector</a:t>
            </a:r>
            <a:endParaRPr lang="en-US" sz="1300" dirty="0"/>
          </a:p>
          <a:p>
            <a:pPr algn="ctr" indent="0" marL="0">
              <a:buNone/>
            </a:pPr>
            <a:r>
              <a:rPr lang="en-US" sz="1000" dirty="0">
                <a:solidFill>
                  <a:schemeClr val="accent5"/>
                </a:solidFill>
              </a:rPr>
              <a:t>CloudNativePG · pasajes y vectores</a:t>
            </a:r>
            <a:endParaRPr lang="en-US" sz="1300" dirty="0"/>
          </a:p>
        </p:txBody>
      </p:sp>
      <p:sp>
        <p:nvSpPr>
          <p:cNvPr id="11" name="Text 9"/>
          <p:cNvSpPr txBox="1"/>
          <p:nvPr/>
        </p:nvSpPr>
        <p:spPr>
          <a:xfrm>
            <a:off x="3794760" y="3337560"/>
            <a:ext cx="1920240" cy="1051560"/>
          </a:xfrm>
          <a:prstGeom prst="roundRect">
            <a:avLst>
              <a:gd name="adj" fmla="val 6957"/>
            </a:avLst>
          </a:prstGeom>
          <a:solidFill>
            <a:schemeClr val="accent3"/>
          </a:solidFill>
          <a:ln>
            <a:solidFill>
              <a:schemeClr val="accent3"/>
            </a:solidFill>
          </a:ln>
        </p:spPr>
        <p:txBody>
          <a:bodyPr wrap="square" lIns="50800" tIns="76200" rIns="76200" bIns="50800" rtlCol="0" anchor="ctr"/>
          <a:lstStyle/>
          <a:p>
            <a:pPr algn="ctr" indent="0" marL="0">
              <a:buNone/>
            </a:pPr>
            <a:r>
              <a:rPr lang="en-US" sz="1300" b="1" dirty="0">
                <a:solidFill>
                  <a:schemeClr val="bg1"/>
                </a:solidFill>
              </a:rPr>
              <a:t>Redis Streams</a:t>
            </a:r>
            <a:endParaRPr lang="en-US" sz="1300" dirty="0"/>
          </a:p>
          <a:p>
            <a:pPr algn="ctr" indent="0" marL="0">
              <a:buNone/>
            </a:pPr>
            <a:r>
              <a:rPr lang="en-US" sz="1000" dirty="0">
                <a:solidFill>
                  <a:schemeClr val="accent5"/>
                </a:solidFill>
              </a:rPr>
              <a:t>colas de turnos y audio</a:t>
            </a:r>
            <a:endParaRPr lang="en-US" sz="1300" dirty="0"/>
          </a:p>
        </p:txBody>
      </p:sp>
      <p:sp>
        <p:nvSpPr>
          <p:cNvPr id="12" name="Text 10"/>
          <p:cNvSpPr txBox="1"/>
          <p:nvPr/>
        </p:nvSpPr>
        <p:spPr>
          <a:xfrm>
            <a:off x="5897880" y="3337560"/>
            <a:ext cx="1920240" cy="1051560"/>
          </a:xfrm>
          <a:prstGeom prst="roundRect">
            <a:avLst>
              <a:gd name="adj" fmla="val 6957"/>
            </a:avLst>
          </a:prstGeom>
          <a:solidFill>
            <a:schemeClr val="accent3"/>
          </a:solidFill>
          <a:ln>
            <a:solidFill>
              <a:schemeClr val="accent3"/>
            </a:solidFill>
          </a:ln>
        </p:spPr>
        <p:txBody>
          <a:bodyPr wrap="square" lIns="50800" tIns="76200" rIns="76200" bIns="50800" rtlCol="0" anchor="ctr"/>
          <a:lstStyle/>
          <a:p>
            <a:pPr algn="ctr" indent="0" marL="0">
              <a:buNone/>
            </a:pPr>
            <a:r>
              <a:rPr lang="en-US" sz="1300" b="1" dirty="0">
                <a:solidFill>
                  <a:schemeClr val="bg1"/>
                </a:solidFill>
              </a:rPr>
              <a:t>Volumen</a:t>
            </a:r>
            <a:endParaRPr lang="en-US" sz="1300" dirty="0"/>
          </a:p>
          <a:p>
            <a:pPr algn="ctr" indent="0" marL="0">
              <a:buNone/>
            </a:pPr>
            <a:r>
              <a:rPr lang="en-US" sz="1000" dirty="0">
                <a:solidFill>
                  <a:schemeClr val="accent5"/>
                </a:solidFill>
              </a:rPr>
              <a:t>reportes consolidados</a:t>
            </a:r>
            <a:endParaRPr lang="en-US" sz="1300" dirty="0"/>
          </a:p>
        </p:txBody>
      </p:sp>
      <p:sp>
        <p:nvSpPr>
          <p:cNvPr id="13" name="Shape 11"/>
          <p:cNvSpPr/>
          <p:nvPr/>
        </p:nvSpPr>
        <p:spPr>
          <a:xfrm>
            <a:off x="4754880" y="4425696"/>
            <a:ext cx="0" cy="384048"/>
          </a:xfrm>
          <a:prstGeom prst="line">
            <a:avLst/>
          </a:prstGeom>
          <a:noFill/>
          <a:ln w="15875">
            <a:solidFill>
              <a:schemeClr val="accent4"/>
            </a:solidFill>
            <a:prstDash val="solid"/>
            <a:tailEnd type="triangle"/>
          </a:ln>
        </p:spPr>
      </p:sp>
      <p:sp>
        <p:nvSpPr>
          <p:cNvPr id="14" name="Text 12"/>
          <p:cNvSpPr txBox="1"/>
          <p:nvPr/>
        </p:nvSpPr>
        <p:spPr>
          <a:xfrm>
            <a:off x="685800" y="4846320"/>
            <a:ext cx="1920240" cy="1051560"/>
          </a:xfrm>
          <a:prstGeom prst="roundRect">
            <a:avLst>
              <a:gd name="adj" fmla="val 6957"/>
            </a:avLst>
          </a:prstGeom>
          <a:solidFill>
            <a:schemeClr val="accent2">
              <a:alpha val="20000"/>
            </a:schemeClr>
          </a:solidFill>
          <a:ln w="15875">
            <a:solidFill>
              <a:schemeClr val="accent2"/>
            </a:solidFill>
          </a:ln>
        </p:spPr>
        <p:txBody>
          <a:bodyPr wrap="square" lIns="50800" tIns="76200" rIns="76200" bIns="50800" rtlCol="0" anchor="ctr"/>
          <a:lstStyle/>
          <a:p>
            <a:pPr algn="ctr" indent="0" marL="0">
              <a:buNone/>
            </a:pPr>
            <a:r>
              <a:rPr lang="en-US" sz="1300" b="1" dirty="0">
                <a:solidFill>
                  <a:schemeClr val="tx2"/>
                </a:solidFill>
              </a:rPr>
              <a:t>Juez LLM</a:t>
            </a:r>
            <a:endParaRPr lang="en-US" sz="1300" dirty="0"/>
          </a:p>
          <a:p>
            <a:pPr algn="ctr" indent="0" marL="0">
              <a:buNone/>
            </a:pPr>
            <a:r>
              <a:rPr lang="en-US" sz="1000" dirty="0">
                <a:solidFill>
                  <a:schemeClr val="tx1"/>
                </a:solidFill>
              </a:rPr>
              <a:t>Qwen2.5-7B Q4 · llama.cpp</a:t>
            </a:r>
            <a:endParaRPr lang="en-US" sz="1300" dirty="0"/>
          </a:p>
        </p:txBody>
      </p:sp>
      <p:sp>
        <p:nvSpPr>
          <p:cNvPr id="15" name="Text 13"/>
          <p:cNvSpPr txBox="1"/>
          <p:nvPr/>
        </p:nvSpPr>
        <p:spPr>
          <a:xfrm>
            <a:off x="2788920" y="4846320"/>
            <a:ext cx="1920240" cy="1051560"/>
          </a:xfrm>
          <a:prstGeom prst="roundRect">
            <a:avLst>
              <a:gd name="adj" fmla="val 6957"/>
            </a:avLst>
          </a:prstGeom>
          <a:solidFill>
            <a:schemeClr val="accent2">
              <a:alpha val="20000"/>
            </a:schemeClr>
          </a:solidFill>
          <a:ln w="15875">
            <a:solidFill>
              <a:schemeClr val="accent2"/>
            </a:solidFill>
          </a:ln>
        </p:spPr>
        <p:txBody>
          <a:bodyPr wrap="square" lIns="50800" tIns="76200" rIns="76200" bIns="50800" rtlCol="0" anchor="ctr"/>
          <a:lstStyle/>
          <a:p>
            <a:pPr algn="ctr" indent="0" marL="0">
              <a:buNone/>
            </a:pPr>
            <a:r>
              <a:rPr lang="en-US" sz="1300" b="1" dirty="0">
                <a:solidFill>
                  <a:schemeClr val="tx2"/>
                </a:solidFill>
              </a:rPr>
              <a:t>Embeddings</a:t>
            </a:r>
            <a:endParaRPr lang="en-US" sz="1300" dirty="0"/>
          </a:p>
          <a:p>
            <a:pPr algn="ctr" indent="0" marL="0">
              <a:buNone/>
            </a:pPr>
            <a:r>
              <a:rPr lang="en-US" sz="1000" dirty="0">
                <a:solidFill>
                  <a:schemeClr val="tx1"/>
                </a:solidFill>
              </a:rPr>
              <a:t>multilingual-e5-base</a:t>
            </a:r>
            <a:endParaRPr lang="en-US" sz="1300" dirty="0"/>
          </a:p>
        </p:txBody>
      </p:sp>
      <p:sp>
        <p:nvSpPr>
          <p:cNvPr id="16" name="Text 14"/>
          <p:cNvSpPr txBox="1"/>
          <p:nvPr/>
        </p:nvSpPr>
        <p:spPr>
          <a:xfrm>
            <a:off x="4892040" y="4846320"/>
            <a:ext cx="1920240" cy="1051560"/>
          </a:xfrm>
          <a:prstGeom prst="roundRect">
            <a:avLst>
              <a:gd name="adj" fmla="val 6957"/>
            </a:avLst>
          </a:prstGeom>
          <a:solidFill>
            <a:schemeClr val="accent2">
              <a:alpha val="20000"/>
            </a:schemeClr>
          </a:solidFill>
          <a:ln w="15875">
            <a:solidFill>
              <a:schemeClr val="accent2"/>
            </a:solidFill>
          </a:ln>
        </p:spPr>
        <p:txBody>
          <a:bodyPr wrap="square" lIns="50800" tIns="76200" rIns="76200" bIns="50800" rtlCol="0" anchor="ctr"/>
          <a:lstStyle/>
          <a:p>
            <a:pPr algn="ctr" indent="0" marL="0">
              <a:buNone/>
            </a:pPr>
            <a:r>
              <a:rPr lang="en-US" sz="1300" b="1" dirty="0">
                <a:solidFill>
                  <a:schemeClr val="tx2"/>
                </a:solidFill>
              </a:rPr>
              <a:t>Whisper</a:t>
            </a:r>
            <a:endParaRPr lang="en-US" sz="1300" dirty="0"/>
          </a:p>
          <a:p>
            <a:pPr algn="ctr" indent="0" marL="0">
              <a:buNone/>
            </a:pPr>
            <a:r>
              <a:rPr lang="en-US" sz="1000" dirty="0">
                <a:solidFill>
                  <a:schemeClr val="tx1"/>
                </a:solidFill>
              </a:rPr>
              <a:t>faster-whisper (SHOULD)</a:t>
            </a:r>
            <a:endParaRPr lang="en-US" sz="1300" dirty="0"/>
          </a:p>
        </p:txBody>
      </p:sp>
      <p:sp>
        <p:nvSpPr>
          <p:cNvPr id="17" name="Text 15"/>
          <p:cNvSpPr txBox="1"/>
          <p:nvPr/>
        </p:nvSpPr>
        <p:spPr>
          <a:xfrm>
            <a:off x="6995160" y="4846320"/>
            <a:ext cx="1920240" cy="1051560"/>
          </a:xfrm>
          <a:prstGeom prst="roundRect">
            <a:avLst>
              <a:gd name="adj" fmla="val 6957"/>
            </a:avLst>
          </a:prstGeom>
          <a:solidFill>
            <a:schemeClr val="bg1"/>
          </a:solidFill>
          <a:ln w="15875">
            <a:solidFill>
              <a:schemeClr val="accent4"/>
            </a:solidFill>
            <a:prstDash val="dash"/>
          </a:ln>
        </p:spPr>
        <p:txBody>
          <a:bodyPr wrap="square" lIns="50800" tIns="76200" rIns="76200" bIns="50800" rtlCol="0" anchor="ctr"/>
          <a:lstStyle/>
          <a:p>
            <a:pPr algn="ctr" indent="0" marL="0">
              <a:buNone/>
            </a:pPr>
            <a:r>
              <a:rPr lang="en-US" sz="1300" b="1" dirty="0">
                <a:solidFill>
                  <a:schemeClr val="tx2"/>
                </a:solidFill>
              </a:rPr>
              <a:t>anonymizer-proxy</a:t>
            </a:r>
            <a:endParaRPr lang="en-US" sz="1300" dirty="0"/>
          </a:p>
          <a:p>
            <a:pPr algn="ctr" indent="0" marL="0">
              <a:buNone/>
            </a:pPr>
            <a:r>
              <a:rPr lang="en-US" sz="1000" dirty="0">
                <a:solidFill>
                  <a:schemeClr val="tx1"/>
                </a:solidFill>
              </a:rPr>
              <a:t>único camino hacia fuera (COULD)</a:t>
            </a:r>
            <a:endParaRPr lang="en-US" sz="1300" dirty="0"/>
          </a:p>
        </p:txBody>
      </p:sp>
      <p:sp>
        <p:nvSpPr>
          <p:cNvPr id="18" name="Text 16"/>
          <p:cNvSpPr txBox="1"/>
          <p:nvPr/>
        </p:nvSpPr>
        <p:spPr>
          <a:xfrm>
            <a:off x="685800" y="1527048"/>
            <a:ext cx="2286000" cy="274320"/>
          </a:xfrm>
          <a:prstGeom prst="rect">
            <a:avLst/>
          </a:prstGeom>
          <a:noFill/>
          <a:ln/>
        </p:spPr>
        <p:txBody>
          <a:bodyPr wrap="square" lIns="0" tIns="0" rIns="0" bIns="0" rtlCol="0" anchor="ctr"/>
          <a:lstStyle/>
          <a:p>
            <a:pPr algn="l" indent="0" marL="0">
              <a:buNone/>
            </a:pPr>
            <a:r>
              <a:rPr lang="en-US" sz="1000" b="1" spc="100" kern="0" dirty="0">
                <a:solidFill>
                  <a:schemeClr val="accent4"/>
                </a:solidFill>
              </a:rPr>
              <a:t>SERVICIOS</a:t>
            </a:r>
            <a:endParaRPr lang="en-US" sz="1000" dirty="0"/>
          </a:p>
        </p:txBody>
      </p:sp>
      <p:sp>
        <p:nvSpPr>
          <p:cNvPr id="19" name="Text 17"/>
          <p:cNvSpPr txBox="1"/>
          <p:nvPr/>
        </p:nvSpPr>
        <p:spPr>
          <a:xfrm>
            <a:off x="685800" y="3035808"/>
            <a:ext cx="2286000" cy="274320"/>
          </a:xfrm>
          <a:prstGeom prst="rect">
            <a:avLst/>
          </a:prstGeom>
          <a:noFill/>
          <a:ln/>
        </p:spPr>
        <p:txBody>
          <a:bodyPr wrap="square" lIns="0" tIns="0" rIns="0" bIns="0" rtlCol="0" anchor="ctr"/>
          <a:lstStyle/>
          <a:p>
            <a:pPr algn="l" indent="0" marL="0">
              <a:buNone/>
            </a:pPr>
            <a:r>
              <a:rPr lang="en-US" sz="1000" b="1" spc="100" kern="0" dirty="0">
                <a:solidFill>
                  <a:schemeClr val="accent4"/>
                </a:solidFill>
              </a:rPr>
              <a:t>DATOS</a:t>
            </a:r>
            <a:endParaRPr lang="en-US" sz="1000" dirty="0"/>
          </a:p>
        </p:txBody>
      </p:sp>
      <p:sp>
        <p:nvSpPr>
          <p:cNvPr id="20" name="Text 18"/>
          <p:cNvSpPr txBox="1"/>
          <p:nvPr/>
        </p:nvSpPr>
        <p:spPr>
          <a:xfrm>
            <a:off x="685800" y="4544568"/>
            <a:ext cx="2286000" cy="274320"/>
          </a:xfrm>
          <a:prstGeom prst="rect">
            <a:avLst/>
          </a:prstGeom>
          <a:noFill/>
          <a:ln/>
        </p:spPr>
        <p:txBody>
          <a:bodyPr wrap="square" lIns="0" tIns="0" rIns="0" bIns="0" rtlCol="0" anchor="ctr"/>
          <a:lstStyle/>
          <a:p>
            <a:pPr algn="l" indent="0" marL="0">
              <a:buNone/>
            </a:pPr>
            <a:r>
              <a:rPr lang="en-US" sz="1000" b="1" spc="100" kern="0" dirty="0">
                <a:solidFill>
                  <a:schemeClr val="accent4"/>
                </a:solidFill>
              </a:rPr>
              <a:t>MODELOS LOCALES</a:t>
            </a:r>
            <a:endParaRPr lang="en-US" sz="1000" dirty="0"/>
          </a:p>
        </p:txBody>
      </p:sp>
      <p:sp>
        <p:nvSpPr>
          <p:cNvPr id="21" name="Text 19"/>
          <p:cNvSpPr txBox="1"/>
          <p:nvPr/>
        </p:nvSpPr>
        <p:spPr>
          <a:xfrm>
            <a:off x="9372600" y="1325880"/>
            <a:ext cx="2377440" cy="868680"/>
          </a:xfrm>
          <a:prstGeom prst="roundRect">
            <a:avLst>
              <a:gd name="adj" fmla="val 8421"/>
            </a:avLst>
          </a:prstGeom>
          <a:solidFill>
            <a:schemeClr val="tx2"/>
          </a:solidFill>
          <a:ln>
            <a:solidFill>
              <a:schemeClr val="tx2"/>
            </a:solidFill>
          </a:ln>
        </p:spPr>
        <p:txBody>
          <a:bodyPr wrap="square" lIns="50800" tIns="76200" rIns="76200" bIns="50800" rtlCol="0" anchor="ctr"/>
          <a:lstStyle/>
          <a:p>
            <a:pPr algn="ctr" indent="0" marL="0">
              <a:buNone/>
            </a:pPr>
            <a:r>
              <a:rPr lang="en-US" sz="1300" b="1" dirty="0">
                <a:solidFill>
                  <a:schemeClr val="bg1"/>
                </a:solidFill>
              </a:rPr>
              <a:t>Analista</a:t>
            </a:r>
            <a:endParaRPr lang="en-US" sz="1300" dirty="0"/>
          </a:p>
          <a:p>
            <a:pPr algn="ctr" indent="0" marL="0">
              <a:buNone/>
            </a:pPr>
            <a:r>
              <a:rPr lang="en-US" sz="1000" dirty="0">
                <a:solidFill>
                  <a:schemeClr val="accent5"/>
                </a:solidFill>
              </a:rPr>
              <a:t>navegador · HTTPS con TLS local</a:t>
            </a:r>
            <a:endParaRPr lang="en-US" sz="1300" dirty="0"/>
          </a:p>
        </p:txBody>
      </p:sp>
      <p:sp>
        <p:nvSpPr>
          <p:cNvPr id="22" name="Shape 20"/>
          <p:cNvSpPr/>
          <p:nvPr/>
        </p:nvSpPr>
        <p:spPr>
          <a:xfrm flipH="1">
            <a:off x="9098280" y="1755648"/>
            <a:ext cx="274320" cy="301752"/>
          </a:xfrm>
          <a:prstGeom prst="line">
            <a:avLst/>
          </a:prstGeom>
          <a:noFill/>
          <a:ln w="19050">
            <a:solidFill>
              <a:schemeClr val="tx2"/>
            </a:solidFill>
            <a:prstDash val="solid"/>
            <a:tailEnd type="triangle"/>
          </a:ln>
        </p:spPr>
      </p:sp>
      <p:sp>
        <p:nvSpPr>
          <p:cNvPr id="23" name="Text 21"/>
          <p:cNvSpPr txBox="1"/>
          <p:nvPr/>
        </p:nvSpPr>
        <p:spPr>
          <a:xfrm>
            <a:off x="9372600" y="2514600"/>
            <a:ext cx="2377440" cy="274320"/>
          </a:xfrm>
          <a:prstGeom prst="rect">
            <a:avLst/>
          </a:prstGeom>
          <a:noFill/>
          <a:ln/>
        </p:spPr>
        <p:txBody>
          <a:bodyPr wrap="square" lIns="0" tIns="0" rIns="0" bIns="0" rtlCol="0" anchor="ctr"/>
          <a:lstStyle/>
          <a:p>
            <a:pPr algn="l" indent="0" marL="0">
              <a:buNone/>
            </a:pPr>
            <a:r>
              <a:rPr lang="en-US" sz="1000" b="1" spc="100" kern="0" dirty="0">
                <a:solidFill>
                  <a:schemeClr val="tx2"/>
                </a:solidFill>
              </a:rPr>
              <a:t>ENTREGA (GITOPS)</a:t>
            </a:r>
            <a:endParaRPr lang="en-US" sz="1000" dirty="0"/>
          </a:p>
        </p:txBody>
      </p:sp>
      <p:sp>
        <p:nvSpPr>
          <p:cNvPr id="24" name="Text 22"/>
          <p:cNvSpPr txBox="1"/>
          <p:nvPr/>
        </p:nvSpPr>
        <p:spPr>
          <a:xfrm>
            <a:off x="9372600" y="2834640"/>
            <a:ext cx="2377440" cy="822960"/>
          </a:xfrm>
          <a:prstGeom prst="roundRect">
            <a:avLst>
              <a:gd name="adj" fmla="val 8889"/>
            </a:avLst>
          </a:prstGeom>
          <a:solidFill>
            <a:schemeClr val="bg1"/>
          </a:solidFill>
          <a:ln w="15875">
            <a:solidFill>
              <a:schemeClr val="tx2"/>
            </a:solidFill>
          </a:ln>
        </p:spPr>
        <p:txBody>
          <a:bodyPr wrap="square" lIns="50800" tIns="76200" rIns="76200" bIns="50800" rtlCol="0" anchor="ctr"/>
          <a:lstStyle/>
          <a:p>
            <a:pPr algn="ctr" indent="0" marL="0">
              <a:buNone/>
            </a:pPr>
            <a:r>
              <a:rPr lang="en-US" sz="1300" b="1" dirty="0">
                <a:solidFill>
                  <a:schemeClr val="tx2"/>
                </a:solidFill>
              </a:rPr>
              <a:t>PR con evidencia</a:t>
            </a:r>
            <a:endParaRPr lang="en-US" sz="1300" dirty="0"/>
          </a:p>
          <a:p>
            <a:pPr algn="ctr" indent="0" marL="0">
              <a:buNone/>
            </a:pPr>
            <a:r>
              <a:rPr lang="en-US" sz="1000" dirty="0">
                <a:solidFill>
                  <a:schemeClr val="tx1"/>
                </a:solidFill>
              </a:rPr>
              <a:t>CI en GitHub Actions</a:t>
            </a:r>
            <a:endParaRPr lang="en-US" sz="1300" dirty="0"/>
          </a:p>
        </p:txBody>
      </p:sp>
      <p:sp>
        <p:nvSpPr>
          <p:cNvPr id="25" name="Shape 23"/>
          <p:cNvSpPr/>
          <p:nvPr/>
        </p:nvSpPr>
        <p:spPr>
          <a:xfrm>
            <a:off x="10561320" y="3657600"/>
            <a:ext cx="0" cy="274320"/>
          </a:xfrm>
          <a:prstGeom prst="line">
            <a:avLst/>
          </a:prstGeom>
          <a:noFill/>
          <a:ln w="15875">
            <a:solidFill>
              <a:schemeClr val="tx2"/>
            </a:solidFill>
            <a:prstDash val="solid"/>
            <a:tailEnd type="triangle"/>
          </a:ln>
        </p:spPr>
      </p:sp>
      <p:sp>
        <p:nvSpPr>
          <p:cNvPr id="26" name="Text 24"/>
          <p:cNvSpPr txBox="1"/>
          <p:nvPr/>
        </p:nvSpPr>
        <p:spPr>
          <a:xfrm>
            <a:off x="9372600" y="3931920"/>
            <a:ext cx="2377440" cy="822960"/>
          </a:xfrm>
          <a:prstGeom prst="roundRect">
            <a:avLst>
              <a:gd name="adj" fmla="val 8889"/>
            </a:avLst>
          </a:prstGeom>
          <a:solidFill>
            <a:schemeClr val="bg1"/>
          </a:solidFill>
          <a:ln w="15875">
            <a:solidFill>
              <a:schemeClr val="tx2"/>
            </a:solidFill>
          </a:ln>
        </p:spPr>
        <p:txBody>
          <a:bodyPr wrap="square" lIns="50800" tIns="76200" rIns="76200" bIns="50800" rtlCol="0" anchor="ctr"/>
          <a:lstStyle/>
          <a:p>
            <a:pPr algn="ctr" indent="0" marL="0">
              <a:buNone/>
            </a:pPr>
            <a:r>
              <a:rPr lang="en-US" sz="1300" b="1" dirty="0">
                <a:solidFill>
                  <a:schemeClr val="tx2"/>
                </a:solidFill>
              </a:rPr>
              <a:t>GHCR privado</a:t>
            </a:r>
            <a:endParaRPr lang="en-US" sz="1300" dirty="0"/>
          </a:p>
          <a:p>
            <a:pPr algn="ctr" indent="0" marL="0">
              <a:buNone/>
            </a:pPr>
            <a:r>
              <a:rPr lang="en-US" sz="1000" dirty="0">
                <a:solidFill>
                  <a:schemeClr val="tx1"/>
                </a:solidFill>
              </a:rPr>
              <a:t>imagen por SHA, nunca latest</a:t>
            </a:r>
            <a:endParaRPr lang="en-US" sz="1300" dirty="0"/>
          </a:p>
        </p:txBody>
      </p:sp>
      <p:sp>
        <p:nvSpPr>
          <p:cNvPr id="27" name="Shape 25"/>
          <p:cNvSpPr/>
          <p:nvPr/>
        </p:nvSpPr>
        <p:spPr>
          <a:xfrm>
            <a:off x="10561320" y="4754880"/>
            <a:ext cx="0" cy="274320"/>
          </a:xfrm>
          <a:prstGeom prst="line">
            <a:avLst/>
          </a:prstGeom>
          <a:noFill/>
          <a:ln w="15875">
            <a:solidFill>
              <a:schemeClr val="tx2"/>
            </a:solidFill>
            <a:prstDash val="solid"/>
            <a:tailEnd type="triangle"/>
          </a:ln>
        </p:spPr>
      </p:sp>
      <p:sp>
        <p:nvSpPr>
          <p:cNvPr id="28" name="Text 26"/>
          <p:cNvSpPr txBox="1"/>
          <p:nvPr/>
        </p:nvSpPr>
        <p:spPr>
          <a:xfrm>
            <a:off x="9372600" y="5029200"/>
            <a:ext cx="2377440" cy="822960"/>
          </a:xfrm>
          <a:prstGeom prst="roundRect">
            <a:avLst>
              <a:gd name="adj" fmla="val 8889"/>
            </a:avLst>
          </a:prstGeom>
          <a:solidFill>
            <a:schemeClr val="bg1"/>
          </a:solidFill>
          <a:ln w="15875">
            <a:solidFill>
              <a:schemeClr val="tx2"/>
            </a:solidFill>
          </a:ln>
        </p:spPr>
        <p:txBody>
          <a:bodyPr wrap="square" lIns="50800" tIns="76200" rIns="76200" bIns="50800" rtlCol="0" anchor="ctr"/>
          <a:lstStyle/>
          <a:p>
            <a:pPr algn="ctr" indent="0" marL="0">
              <a:buNone/>
            </a:pPr>
            <a:r>
              <a:rPr lang="en-US" sz="1300" b="1" dirty="0">
                <a:solidFill>
                  <a:schemeClr val="tx2"/>
                </a:solidFill>
              </a:rPr>
              <a:t>Argo CD</a:t>
            </a:r>
            <a:endParaRPr lang="en-US" sz="1300" dirty="0"/>
          </a:p>
          <a:p>
            <a:pPr algn="ctr" indent="0" marL="0">
              <a:buNone/>
            </a:pPr>
            <a:r>
              <a:rPr lang="en-US" sz="1000" dirty="0">
                <a:solidFill>
                  <a:schemeClr val="tx1"/>
                </a:solidFill>
              </a:rPr>
              <a:t>deploy key de solo lectura</a:t>
            </a:r>
            <a:endParaRPr lang="en-US" sz="1300" dirty="0"/>
          </a:p>
        </p:txBody>
      </p:sp>
      <p:sp>
        <p:nvSpPr>
          <p:cNvPr id="29" name="Shape 27"/>
          <p:cNvSpPr/>
          <p:nvPr/>
        </p:nvSpPr>
        <p:spPr>
          <a:xfrm flipH="1">
            <a:off x="9098280" y="5440680"/>
            <a:ext cx="274320" cy="0"/>
          </a:xfrm>
          <a:prstGeom prst="line">
            <a:avLst/>
          </a:prstGeom>
          <a:noFill/>
          <a:ln w="19050">
            <a:solidFill>
              <a:schemeClr val="tx2"/>
            </a:solidFill>
            <a:prstDash val="solid"/>
            <a:tailEnd type="triangle"/>
          </a:ln>
        </p:spPr>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92608"/>
          </a:xfrm>
          <a:prstGeom prst="rect">
            <a:avLst/>
          </a:prstGeom>
          <a:noFill/>
          <a:ln/>
        </p:spPr>
        <p:txBody>
          <a:bodyPr wrap="square" lIns="0" tIns="0" rIns="0" bIns="0" rtlCol="0"/>
          <a:lstStyle/>
          <a:p>
            <a:pPr indent="0" marL="0">
              <a:buNone/>
            </a:pPr>
            <a:r>
              <a:rPr lang="en-US" sz="1200" b="1" spc="300" kern="0" dirty="0">
                <a:solidFill>
                  <a:schemeClr val="accent1"/>
                </a:solidFill>
              </a:rPr>
              <a:t>UNIDADES Y ACTIVIDADES PRIMARIAS</a:t>
            </a:r>
            <a:endParaRPr lang="en-US" sz="1200" dirty="0"/>
          </a:p>
        </p:txBody>
      </p:sp>
      <p:sp>
        <p:nvSpPr>
          <p:cNvPr id="3" name="Text 0"/>
          <p:cNvSpPr/>
          <p:nvPr>
            <p:ph idx="101" type="title" hasCustomPrompt="1"/>
          </p:nvPr>
        </p:nvSpPr>
        <p:spPr>
          <a:xfrm>
            <a:off x="457200" y="566928"/>
            <a:ext cx="11247120" cy="640080"/>
          </a:xfrm>
          <a:prstGeom prst="rect">
            <a:avLst/>
          </a:prstGeom>
          <a:noFill/>
          <a:ln/>
        </p:spPr>
        <p:txBody>
          <a:bodyPr wrap="square" lIns="0" tIns="0" rIns="0" bIns="0" rtlCol="0" anchor="t"/>
          <a:lstStyle/>
          <a:p>
            <a:pPr indent="0" marL="0">
              <a:buNone/>
            </a:pPr>
            <a:r>
              <a:rPr lang="en-US" sz="3200" b="1" dirty="0">
                <a:solidFill>
                  <a:schemeClr val="tx2"/>
                </a:solidFill>
              </a:rPr>
              <a:t>Diez unidades, nueve Bolts, el texto primero</a:t>
            </a:r>
            <a:endParaRPr lang="en-US" sz="3200" dirty="0"/>
          </a:p>
        </p:txBody>
      </p:sp>
      <p:sp>
        <p:nvSpPr>
          <p:cNvPr id="4" name="Text 2"/>
          <p:cNvSpPr txBox="1"/>
          <p:nvPr/>
        </p:nvSpPr>
        <p:spPr>
          <a:xfrm>
            <a:off x="457200" y="1371600"/>
            <a:ext cx="2606040" cy="274320"/>
          </a:xfrm>
          <a:prstGeom prst="rect">
            <a:avLst/>
          </a:prstGeom>
          <a:noFill/>
          <a:ln/>
        </p:spPr>
        <p:txBody>
          <a:bodyPr wrap="square" lIns="0" tIns="0" rIns="0" bIns="0" rtlCol="0" anchor="ctr"/>
          <a:lstStyle/>
          <a:p>
            <a:pPr algn="l" indent="0" marL="0">
              <a:buNone/>
            </a:pPr>
            <a:r>
              <a:rPr lang="en-US" sz="1100" b="1" spc="100" kern="0" dirty="0">
                <a:solidFill>
                  <a:schemeClr val="tx2"/>
                </a:solidFill>
              </a:rPr>
              <a:t>MÓDULO 6</a:t>
            </a:r>
            <a:endParaRPr lang="en-US" sz="1100" dirty="0"/>
          </a:p>
        </p:txBody>
      </p:sp>
      <p:sp>
        <p:nvSpPr>
          <p:cNvPr id="5" name="Text 3"/>
          <p:cNvSpPr txBox="1"/>
          <p:nvPr/>
        </p:nvSpPr>
        <p:spPr>
          <a:xfrm>
            <a:off x="457200" y="1783080"/>
            <a:ext cx="2606040" cy="457200"/>
          </a:xfrm>
          <a:prstGeom prst="roundRect">
            <a:avLst>
              <a:gd name="adj" fmla="val 12000"/>
            </a:avLst>
          </a:prstGeom>
          <a:solidFill>
            <a:schemeClr val="bg2"/>
          </a:solidFill>
          <a:ln w="12700">
            <a:solidFill>
              <a:schemeClr val="accent4"/>
            </a:solidFill>
          </a:ln>
        </p:spPr>
        <p:txBody>
          <a:bodyPr wrap="square" lIns="0" tIns="101600" rIns="101600" bIns="0" rtlCol="0" anchor="ctr"/>
          <a:lstStyle/>
          <a:p>
            <a:pPr algn="l" indent="0" marL="0">
              <a:buNone/>
            </a:pPr>
            <a:r>
              <a:rPr lang="en-US" sz="1300" b="1" dirty="0">
                <a:solidFill>
                  <a:schemeClr val="accent1"/>
                </a:solidFill>
              </a:rPr>
              <a:t>P0  </a:t>
            </a:r>
            <a:pPr algn="l" indent="0" marL="0">
              <a:buNone/>
            </a:pPr>
            <a:r>
              <a:rPr lang="en-US" sz="1300" b="1" dirty="0">
                <a:solidFill>
                  <a:schemeClr val="tx2"/>
                </a:solidFill>
              </a:rPr>
              <a:t>GitHub y dataset</a:t>
            </a:r>
            <a:endParaRPr lang="en-US" sz="1300" dirty="0"/>
          </a:p>
        </p:txBody>
      </p:sp>
      <p:sp>
        <p:nvSpPr>
          <p:cNvPr id="6" name="Text 4"/>
          <p:cNvSpPr txBox="1"/>
          <p:nvPr/>
        </p:nvSpPr>
        <p:spPr>
          <a:xfrm>
            <a:off x="1874520" y="182880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previas</a:t>
            </a:r>
            <a:endParaRPr lang="en-US" sz="1000" dirty="0"/>
          </a:p>
        </p:txBody>
      </p:sp>
      <p:sp>
        <p:nvSpPr>
          <p:cNvPr id="7" name="Text 5"/>
          <p:cNvSpPr txBox="1"/>
          <p:nvPr/>
        </p:nvSpPr>
        <p:spPr>
          <a:xfrm>
            <a:off x="457200" y="2331720"/>
            <a:ext cx="2606040" cy="457200"/>
          </a:xfrm>
          <a:prstGeom prst="roundRect">
            <a:avLst>
              <a:gd name="adj" fmla="val 12000"/>
            </a:avLst>
          </a:prstGeom>
          <a:solidFill>
            <a:schemeClr val="accent1">
              <a:alpha val="18000"/>
            </a:schemeClr>
          </a:solidFill>
          <a:ln w="12700">
            <a:solidFill>
              <a:schemeClr val="accent1"/>
            </a:solidFill>
          </a:ln>
        </p:spPr>
        <p:txBody>
          <a:bodyPr wrap="square" lIns="0" tIns="101600" rIns="101600" bIns="0" rtlCol="0" anchor="ctr"/>
          <a:lstStyle/>
          <a:p>
            <a:pPr algn="l" indent="0" marL="0">
              <a:buNone/>
            </a:pPr>
            <a:r>
              <a:rPr lang="en-US" sz="1300" b="1" dirty="0">
                <a:solidFill>
                  <a:schemeClr val="accent1"/>
                </a:solidFill>
              </a:rPr>
              <a:t>B1  </a:t>
            </a:r>
            <a:pPr algn="l" indent="0" marL="0">
              <a:buNone/>
            </a:pPr>
            <a:r>
              <a:rPr lang="en-US" sz="1300" b="1" dirty="0">
                <a:solidFill>
                  <a:schemeClr val="tx2"/>
                </a:solidFill>
              </a:rPr>
              <a:t>Contratos</a:t>
            </a:r>
            <a:endParaRPr lang="en-US" sz="1300" dirty="0"/>
          </a:p>
        </p:txBody>
      </p:sp>
      <p:sp>
        <p:nvSpPr>
          <p:cNvPr id="8" name="Text 6"/>
          <p:cNvSpPr txBox="1"/>
          <p:nvPr/>
        </p:nvSpPr>
        <p:spPr>
          <a:xfrm>
            <a:off x="1874520" y="237744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U1</a:t>
            </a:r>
            <a:endParaRPr lang="en-US" sz="1000" dirty="0"/>
          </a:p>
        </p:txBody>
      </p:sp>
      <p:sp>
        <p:nvSpPr>
          <p:cNvPr id="9" name="Text 7"/>
          <p:cNvSpPr txBox="1"/>
          <p:nvPr/>
        </p:nvSpPr>
        <p:spPr>
          <a:xfrm>
            <a:off x="457200" y="2880360"/>
            <a:ext cx="2606040" cy="457200"/>
          </a:xfrm>
          <a:prstGeom prst="roundRect">
            <a:avLst>
              <a:gd name="adj" fmla="val 12000"/>
            </a:avLst>
          </a:prstGeom>
          <a:solidFill>
            <a:schemeClr val="accent1">
              <a:alpha val="18000"/>
            </a:schemeClr>
          </a:solidFill>
          <a:ln w="12700">
            <a:solidFill>
              <a:schemeClr val="accent1"/>
            </a:solidFill>
          </a:ln>
        </p:spPr>
        <p:txBody>
          <a:bodyPr wrap="square" lIns="0" tIns="101600" rIns="101600" bIns="0" rtlCol="0" anchor="ctr"/>
          <a:lstStyle/>
          <a:p>
            <a:pPr algn="l" indent="0" marL="0">
              <a:buNone/>
            </a:pPr>
            <a:r>
              <a:rPr lang="en-US" sz="1300" b="1" dirty="0">
                <a:solidFill>
                  <a:schemeClr val="accent1"/>
                </a:solidFill>
              </a:rPr>
              <a:t>B2  </a:t>
            </a:r>
            <a:pPr algn="l" indent="0" marL="0">
              <a:buNone/>
            </a:pPr>
            <a:r>
              <a:rPr lang="en-US" sz="1300" b="1" dirty="0">
                <a:solidFill>
                  <a:schemeClr val="tx2"/>
                </a:solidFill>
              </a:rPr>
              <a:t>Acceso</a:t>
            </a:r>
            <a:endParaRPr lang="en-US" sz="1300" dirty="0"/>
          </a:p>
        </p:txBody>
      </p:sp>
      <p:sp>
        <p:nvSpPr>
          <p:cNvPr id="10" name="Text 8"/>
          <p:cNvSpPr txBox="1"/>
          <p:nvPr/>
        </p:nvSpPr>
        <p:spPr>
          <a:xfrm>
            <a:off x="1874520" y="292608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U3</a:t>
            </a:r>
            <a:endParaRPr lang="en-US" sz="1000" dirty="0"/>
          </a:p>
        </p:txBody>
      </p:sp>
      <p:sp>
        <p:nvSpPr>
          <p:cNvPr id="11" name="Text 9"/>
          <p:cNvSpPr txBox="1"/>
          <p:nvPr/>
        </p:nvSpPr>
        <p:spPr>
          <a:xfrm>
            <a:off x="457200" y="3429000"/>
            <a:ext cx="2606040" cy="457200"/>
          </a:xfrm>
          <a:prstGeom prst="roundRect">
            <a:avLst>
              <a:gd name="adj" fmla="val 12000"/>
            </a:avLst>
          </a:prstGeom>
          <a:solidFill>
            <a:schemeClr val="accent2">
              <a:alpha val="25000"/>
            </a:schemeClr>
          </a:solidFill>
          <a:ln w="22225">
            <a:solidFill>
              <a:schemeClr val="accent2"/>
            </a:solidFill>
          </a:ln>
        </p:spPr>
        <p:txBody>
          <a:bodyPr wrap="square" lIns="0" tIns="101600" rIns="101600" bIns="0" rtlCol="0" anchor="ctr"/>
          <a:lstStyle/>
          <a:p>
            <a:pPr algn="l" indent="0" marL="0">
              <a:buNone/>
            </a:pPr>
            <a:r>
              <a:rPr lang="en-US" sz="1300" b="1" dirty="0">
                <a:solidFill>
                  <a:schemeClr val="tx2"/>
                </a:solidFill>
              </a:rPr>
              <a:t>B3  </a:t>
            </a:r>
            <a:pPr algn="l" indent="0" marL="0">
              <a:buNone/>
            </a:pPr>
            <a:r>
              <a:rPr lang="en-US" sz="1300" b="1" dirty="0">
                <a:solidFill>
                  <a:schemeClr val="tx2"/>
                </a:solidFill>
              </a:rPr>
              <a:t>Flujo de texto</a:t>
            </a:r>
            <a:endParaRPr lang="en-US" sz="1300" dirty="0"/>
          </a:p>
        </p:txBody>
      </p:sp>
      <p:sp>
        <p:nvSpPr>
          <p:cNvPr id="12" name="Text 10"/>
          <p:cNvSpPr txBox="1"/>
          <p:nvPr/>
        </p:nvSpPr>
        <p:spPr>
          <a:xfrm>
            <a:off x="1874520" y="347472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U4 · XL</a:t>
            </a:r>
            <a:endParaRPr lang="en-US" sz="1000" dirty="0"/>
          </a:p>
        </p:txBody>
      </p:sp>
      <p:sp>
        <p:nvSpPr>
          <p:cNvPr id="13" name="Text 11"/>
          <p:cNvSpPr txBox="1"/>
          <p:nvPr/>
        </p:nvSpPr>
        <p:spPr>
          <a:xfrm>
            <a:off x="457200" y="3977640"/>
            <a:ext cx="2606040" cy="457200"/>
          </a:xfrm>
          <a:prstGeom prst="roundRect">
            <a:avLst>
              <a:gd name="adj" fmla="val 12000"/>
            </a:avLst>
          </a:prstGeom>
          <a:solidFill>
            <a:schemeClr val="accent1">
              <a:alpha val="18000"/>
            </a:schemeClr>
          </a:solidFill>
          <a:ln w="12700">
            <a:solidFill>
              <a:schemeClr val="accent1"/>
            </a:solidFill>
          </a:ln>
        </p:spPr>
        <p:txBody>
          <a:bodyPr wrap="square" lIns="0" tIns="101600" rIns="101600" bIns="0" rtlCol="0" anchor="ctr"/>
          <a:lstStyle/>
          <a:p>
            <a:pPr algn="l" indent="0" marL="0">
              <a:buNone/>
            </a:pPr>
            <a:r>
              <a:rPr lang="en-US" sz="1300" b="1" dirty="0">
                <a:solidFill>
                  <a:schemeClr val="accent1"/>
                </a:solidFill>
              </a:rPr>
              <a:t>B4  </a:t>
            </a:r>
            <a:pPr algn="l" indent="0" marL="0">
              <a:buNone/>
            </a:pPr>
            <a:r>
              <a:rPr lang="en-US" sz="1300" b="1" dirty="0">
                <a:solidFill>
                  <a:schemeClr val="tx2"/>
                </a:solidFill>
              </a:rPr>
              <a:t>Plataforma</a:t>
            </a:r>
            <a:endParaRPr lang="en-US" sz="1300" dirty="0"/>
          </a:p>
        </p:txBody>
      </p:sp>
      <p:sp>
        <p:nvSpPr>
          <p:cNvPr id="14" name="Text 12"/>
          <p:cNvSpPr txBox="1"/>
          <p:nvPr/>
        </p:nvSpPr>
        <p:spPr>
          <a:xfrm>
            <a:off x="1874520" y="402336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U2 · hasta 7</a:t>
            </a:r>
            <a:endParaRPr lang="en-US" sz="1000" dirty="0"/>
          </a:p>
        </p:txBody>
      </p:sp>
      <p:sp>
        <p:nvSpPr>
          <p:cNvPr id="15" name="Text 13"/>
          <p:cNvSpPr txBox="1"/>
          <p:nvPr/>
        </p:nvSpPr>
        <p:spPr>
          <a:xfrm>
            <a:off x="3337560" y="1371600"/>
            <a:ext cx="2606040" cy="274320"/>
          </a:xfrm>
          <a:prstGeom prst="rect">
            <a:avLst/>
          </a:prstGeom>
          <a:noFill/>
          <a:ln/>
        </p:spPr>
        <p:txBody>
          <a:bodyPr wrap="square" lIns="0" tIns="0" rIns="0" bIns="0" rtlCol="0" anchor="ctr"/>
          <a:lstStyle/>
          <a:p>
            <a:pPr algn="l" indent="0" marL="0">
              <a:buNone/>
            </a:pPr>
            <a:r>
              <a:rPr lang="en-US" sz="1100" b="1" spc="100" kern="0" dirty="0">
                <a:solidFill>
                  <a:schemeClr val="tx2"/>
                </a:solidFill>
              </a:rPr>
              <a:t>MÓDULO 7</a:t>
            </a:r>
            <a:endParaRPr lang="en-US" sz="1100" dirty="0"/>
          </a:p>
        </p:txBody>
      </p:sp>
      <p:sp>
        <p:nvSpPr>
          <p:cNvPr id="16" name="Text 14"/>
          <p:cNvSpPr txBox="1"/>
          <p:nvPr/>
        </p:nvSpPr>
        <p:spPr>
          <a:xfrm>
            <a:off x="3337560" y="1783080"/>
            <a:ext cx="2606040" cy="457200"/>
          </a:xfrm>
          <a:prstGeom prst="roundRect">
            <a:avLst>
              <a:gd name="adj" fmla="val 12000"/>
            </a:avLst>
          </a:prstGeom>
          <a:solidFill>
            <a:schemeClr val="accent1">
              <a:alpha val="18000"/>
            </a:schemeClr>
          </a:solidFill>
          <a:ln w="12700">
            <a:solidFill>
              <a:schemeClr val="accent1"/>
            </a:solidFill>
          </a:ln>
        </p:spPr>
        <p:txBody>
          <a:bodyPr wrap="square" lIns="0" tIns="101600" rIns="101600" bIns="0" rtlCol="0" anchor="ctr"/>
          <a:lstStyle/>
          <a:p>
            <a:pPr algn="l" indent="0" marL="0">
              <a:buNone/>
            </a:pPr>
            <a:r>
              <a:rPr lang="en-US" sz="1300" b="1" dirty="0">
                <a:solidFill>
                  <a:schemeClr val="accent1"/>
                </a:solidFill>
              </a:rPr>
              <a:t>B5  </a:t>
            </a:r>
            <a:pPr algn="l" indent="0" marL="0">
              <a:buNone/>
            </a:pPr>
            <a:r>
              <a:rPr lang="en-US" sz="1300" b="1" dirty="0">
                <a:solidFill>
                  <a:schemeClr val="tx2"/>
                </a:solidFill>
              </a:rPr>
              <a:t>Revisión humana</a:t>
            </a:r>
            <a:endParaRPr lang="en-US" sz="1300" dirty="0"/>
          </a:p>
        </p:txBody>
      </p:sp>
      <p:sp>
        <p:nvSpPr>
          <p:cNvPr id="17" name="Text 15"/>
          <p:cNvSpPr txBox="1"/>
          <p:nvPr/>
        </p:nvSpPr>
        <p:spPr>
          <a:xfrm>
            <a:off x="4754880" y="182880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U5</a:t>
            </a:r>
            <a:endParaRPr lang="en-US" sz="1000" dirty="0"/>
          </a:p>
        </p:txBody>
      </p:sp>
      <p:sp>
        <p:nvSpPr>
          <p:cNvPr id="18" name="Text 16"/>
          <p:cNvSpPr txBox="1"/>
          <p:nvPr/>
        </p:nvSpPr>
        <p:spPr>
          <a:xfrm>
            <a:off x="3337560" y="2331720"/>
            <a:ext cx="2606040" cy="457200"/>
          </a:xfrm>
          <a:prstGeom prst="roundRect">
            <a:avLst>
              <a:gd name="adj" fmla="val 12000"/>
            </a:avLst>
          </a:prstGeom>
          <a:solidFill>
            <a:schemeClr val="accent1">
              <a:alpha val="18000"/>
            </a:schemeClr>
          </a:solidFill>
          <a:ln w="12700">
            <a:solidFill>
              <a:schemeClr val="accent1"/>
            </a:solidFill>
          </a:ln>
        </p:spPr>
        <p:txBody>
          <a:bodyPr wrap="square" lIns="0" tIns="101600" rIns="101600" bIns="0" rtlCol="0" anchor="ctr"/>
          <a:lstStyle/>
          <a:p>
            <a:pPr algn="l" indent="0" marL="0">
              <a:buNone/>
            </a:pPr>
            <a:r>
              <a:rPr lang="en-US" sz="1300" b="1" dirty="0">
                <a:solidFill>
                  <a:schemeClr val="accent1"/>
                </a:solidFill>
              </a:rPr>
              <a:t>B6  </a:t>
            </a:r>
            <a:pPr algn="l" indent="0" marL="0">
              <a:buNone/>
            </a:pPr>
            <a:r>
              <a:rPr lang="en-US" sz="1300" b="1" dirty="0">
                <a:solidFill>
                  <a:schemeClr val="tx2"/>
                </a:solidFill>
              </a:rPr>
              <a:t>Reporte forense</a:t>
            </a:r>
            <a:endParaRPr lang="en-US" sz="1300" dirty="0"/>
          </a:p>
        </p:txBody>
      </p:sp>
      <p:sp>
        <p:nvSpPr>
          <p:cNvPr id="19" name="Text 17"/>
          <p:cNvSpPr txBox="1"/>
          <p:nvPr/>
        </p:nvSpPr>
        <p:spPr>
          <a:xfrm>
            <a:off x="4754880" y="237744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U7</a:t>
            </a:r>
            <a:endParaRPr lang="en-US" sz="1000" dirty="0"/>
          </a:p>
        </p:txBody>
      </p:sp>
      <p:sp>
        <p:nvSpPr>
          <p:cNvPr id="20" name="Text 18"/>
          <p:cNvSpPr txBox="1"/>
          <p:nvPr/>
        </p:nvSpPr>
        <p:spPr>
          <a:xfrm>
            <a:off x="6217920" y="1371600"/>
            <a:ext cx="2606040" cy="274320"/>
          </a:xfrm>
          <a:prstGeom prst="rect">
            <a:avLst/>
          </a:prstGeom>
          <a:noFill/>
          <a:ln/>
        </p:spPr>
        <p:txBody>
          <a:bodyPr wrap="square" lIns="0" tIns="0" rIns="0" bIns="0" rtlCol="0" anchor="ctr"/>
          <a:lstStyle/>
          <a:p>
            <a:pPr algn="l" indent="0" marL="0">
              <a:buNone/>
            </a:pPr>
            <a:r>
              <a:rPr lang="en-US" sz="1100" b="1" spc="100" kern="0" dirty="0">
                <a:solidFill>
                  <a:schemeClr val="tx2"/>
                </a:solidFill>
              </a:rPr>
              <a:t>MÓDULO 8</a:t>
            </a:r>
            <a:endParaRPr lang="en-US" sz="1100" dirty="0"/>
          </a:p>
        </p:txBody>
      </p:sp>
      <p:sp>
        <p:nvSpPr>
          <p:cNvPr id="21" name="Text 19"/>
          <p:cNvSpPr txBox="1"/>
          <p:nvPr/>
        </p:nvSpPr>
        <p:spPr>
          <a:xfrm>
            <a:off x="6217920" y="1783080"/>
            <a:ext cx="2606040" cy="457200"/>
          </a:xfrm>
          <a:prstGeom prst="roundRect">
            <a:avLst>
              <a:gd name="adj" fmla="val 12000"/>
            </a:avLst>
          </a:prstGeom>
          <a:solidFill>
            <a:schemeClr val="accent1">
              <a:alpha val="18000"/>
            </a:schemeClr>
          </a:solidFill>
          <a:ln w="12700">
            <a:solidFill>
              <a:schemeClr val="accent1"/>
            </a:solidFill>
          </a:ln>
        </p:spPr>
        <p:txBody>
          <a:bodyPr wrap="square" lIns="0" tIns="101600" rIns="101600" bIns="0" rtlCol="0" anchor="ctr"/>
          <a:lstStyle/>
          <a:p>
            <a:pPr algn="l" indent="0" marL="0">
              <a:buNone/>
            </a:pPr>
            <a:r>
              <a:rPr lang="en-US" sz="1300" b="1" dirty="0">
                <a:solidFill>
                  <a:schemeClr val="accent1"/>
                </a:solidFill>
              </a:rPr>
              <a:t>B7  </a:t>
            </a:r>
            <a:pPr algn="l" indent="0" marL="0">
              <a:buNone/>
            </a:pPr>
            <a:r>
              <a:rPr lang="en-US" sz="1300" b="1" dirty="0">
                <a:solidFill>
                  <a:schemeClr val="tx2"/>
                </a:solidFill>
              </a:rPr>
              <a:t>Ciclo de vida</a:t>
            </a:r>
            <a:endParaRPr lang="en-US" sz="1300" dirty="0"/>
          </a:p>
        </p:txBody>
      </p:sp>
      <p:sp>
        <p:nvSpPr>
          <p:cNvPr id="22" name="Text 20"/>
          <p:cNvSpPr txBox="1"/>
          <p:nvPr/>
        </p:nvSpPr>
        <p:spPr>
          <a:xfrm>
            <a:off x="7635240" y="182880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U6</a:t>
            </a:r>
            <a:endParaRPr lang="en-US" sz="1000" dirty="0"/>
          </a:p>
        </p:txBody>
      </p:sp>
      <p:sp>
        <p:nvSpPr>
          <p:cNvPr id="23" name="Text 21"/>
          <p:cNvSpPr txBox="1"/>
          <p:nvPr/>
        </p:nvSpPr>
        <p:spPr>
          <a:xfrm>
            <a:off x="9098280" y="1371600"/>
            <a:ext cx="2606040" cy="274320"/>
          </a:xfrm>
          <a:prstGeom prst="rect">
            <a:avLst/>
          </a:prstGeom>
          <a:noFill/>
          <a:ln/>
        </p:spPr>
        <p:txBody>
          <a:bodyPr wrap="square" lIns="0" tIns="0" rIns="0" bIns="0" rtlCol="0" anchor="ctr"/>
          <a:lstStyle/>
          <a:p>
            <a:pPr algn="l" indent="0" marL="0">
              <a:buNone/>
            </a:pPr>
            <a:r>
              <a:rPr lang="en-US" sz="1100" b="1" spc="100" kern="0" dirty="0">
                <a:solidFill>
                  <a:schemeClr val="accent4"/>
                </a:solidFill>
              </a:rPr>
              <a:t>TRAS EL CORTE</a:t>
            </a:r>
            <a:endParaRPr lang="en-US" sz="1100" dirty="0"/>
          </a:p>
        </p:txBody>
      </p:sp>
      <p:sp>
        <p:nvSpPr>
          <p:cNvPr id="24" name="Text 22"/>
          <p:cNvSpPr txBox="1"/>
          <p:nvPr/>
        </p:nvSpPr>
        <p:spPr>
          <a:xfrm>
            <a:off x="9098280" y="1783080"/>
            <a:ext cx="2606040" cy="457200"/>
          </a:xfrm>
          <a:prstGeom prst="roundRect">
            <a:avLst>
              <a:gd name="adj" fmla="val 12000"/>
            </a:avLst>
          </a:prstGeom>
          <a:solidFill>
            <a:schemeClr val="bg1"/>
          </a:solidFill>
          <a:ln w="15875">
            <a:solidFill>
              <a:schemeClr val="accent5"/>
            </a:solidFill>
          </a:ln>
        </p:spPr>
        <p:txBody>
          <a:bodyPr wrap="square" lIns="0" tIns="101600" rIns="101600" bIns="0" rtlCol="0" anchor="ctr"/>
          <a:lstStyle/>
          <a:p>
            <a:pPr algn="l" indent="0" marL="0">
              <a:buNone/>
            </a:pPr>
            <a:r>
              <a:rPr lang="en-US" sz="1300" b="1" dirty="0">
                <a:solidFill>
                  <a:schemeClr val="accent1"/>
                </a:solidFill>
              </a:rPr>
              <a:t>B8  </a:t>
            </a:r>
            <a:pPr algn="l" indent="0" marL="0">
              <a:buNone/>
            </a:pPr>
            <a:r>
              <a:rPr lang="en-US" sz="1300" b="1" dirty="0">
                <a:solidFill>
                  <a:schemeClr val="tx2"/>
                </a:solidFill>
              </a:rPr>
              <a:t>Extras del asistente</a:t>
            </a:r>
            <a:endParaRPr lang="en-US" sz="1300" dirty="0"/>
          </a:p>
        </p:txBody>
      </p:sp>
      <p:sp>
        <p:nvSpPr>
          <p:cNvPr id="25" name="Text 23"/>
          <p:cNvSpPr txBox="1"/>
          <p:nvPr/>
        </p:nvSpPr>
        <p:spPr>
          <a:xfrm>
            <a:off x="10515600" y="182880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U8</a:t>
            </a:r>
            <a:endParaRPr lang="en-US" sz="1000" dirty="0"/>
          </a:p>
        </p:txBody>
      </p:sp>
      <p:sp>
        <p:nvSpPr>
          <p:cNvPr id="26" name="Text 24"/>
          <p:cNvSpPr txBox="1"/>
          <p:nvPr/>
        </p:nvSpPr>
        <p:spPr>
          <a:xfrm>
            <a:off x="9098280" y="2331720"/>
            <a:ext cx="2606040" cy="457200"/>
          </a:xfrm>
          <a:prstGeom prst="roundRect">
            <a:avLst>
              <a:gd name="adj" fmla="val 12000"/>
            </a:avLst>
          </a:prstGeom>
          <a:solidFill>
            <a:schemeClr val="bg1"/>
          </a:solidFill>
          <a:ln w="15875">
            <a:solidFill>
              <a:schemeClr val="accent5"/>
            </a:solidFill>
          </a:ln>
        </p:spPr>
        <p:txBody>
          <a:bodyPr wrap="square" lIns="0" tIns="101600" rIns="101600" bIns="0" rtlCol="0" anchor="ctr"/>
          <a:lstStyle/>
          <a:p>
            <a:pPr algn="l" indent="0" marL="0">
              <a:buNone/>
            </a:pPr>
            <a:r>
              <a:rPr lang="en-US" sz="1300" b="1" dirty="0">
                <a:solidFill>
                  <a:schemeClr val="accent1"/>
                </a:solidFill>
              </a:rPr>
              <a:t>B9  </a:t>
            </a:r>
            <a:pPr algn="l" indent="0" marL="0">
              <a:buNone/>
            </a:pPr>
            <a:r>
              <a:rPr lang="en-US" sz="1300" b="1" dirty="0">
                <a:solidFill>
                  <a:schemeClr val="tx2"/>
                </a:solidFill>
              </a:rPr>
              <a:t>Voz</a:t>
            </a:r>
            <a:endParaRPr lang="en-US" sz="1300" dirty="0"/>
          </a:p>
        </p:txBody>
      </p:sp>
      <p:sp>
        <p:nvSpPr>
          <p:cNvPr id="27" name="Text 25"/>
          <p:cNvSpPr txBox="1"/>
          <p:nvPr/>
        </p:nvSpPr>
        <p:spPr>
          <a:xfrm>
            <a:off x="10515600" y="237744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U9</a:t>
            </a:r>
            <a:endParaRPr lang="en-US" sz="1000" dirty="0"/>
          </a:p>
        </p:txBody>
      </p:sp>
      <p:sp>
        <p:nvSpPr>
          <p:cNvPr id="28" name="Text 26"/>
          <p:cNvSpPr txBox="1"/>
          <p:nvPr/>
        </p:nvSpPr>
        <p:spPr>
          <a:xfrm>
            <a:off x="9098280" y="2880360"/>
            <a:ext cx="2606040" cy="457200"/>
          </a:xfrm>
          <a:prstGeom prst="roundRect">
            <a:avLst>
              <a:gd name="adj" fmla="val 12000"/>
            </a:avLst>
          </a:prstGeom>
          <a:solidFill>
            <a:schemeClr val="bg1"/>
          </a:solidFill>
          <a:ln w="15875">
            <a:solidFill>
              <a:schemeClr val="accent5"/>
            </a:solidFill>
            <a:prstDash val="dash"/>
          </a:ln>
        </p:spPr>
        <p:txBody>
          <a:bodyPr wrap="square" lIns="0" tIns="101600" rIns="101600" bIns="0" rtlCol="0" anchor="ctr"/>
          <a:lstStyle/>
          <a:p>
            <a:pPr algn="l" indent="0" marL="0">
              <a:buNone/>
            </a:pPr>
            <a:r>
              <a:rPr lang="en-US" sz="1300" b="1" dirty="0">
                <a:solidFill>
                  <a:schemeClr val="accent1"/>
                </a:solidFill>
              </a:rPr>
              <a:t>B10  </a:t>
            </a:r>
            <a:pPr algn="l" indent="0" marL="0">
              <a:buNone/>
            </a:pPr>
            <a:r>
              <a:rPr lang="en-US" sz="1300" b="1" dirty="0">
                <a:solidFill>
                  <a:schemeClr val="tx2"/>
                </a:solidFill>
              </a:rPr>
              <a:t>Anonimizador</a:t>
            </a:r>
            <a:endParaRPr lang="en-US" sz="1300" dirty="0"/>
          </a:p>
        </p:txBody>
      </p:sp>
      <p:sp>
        <p:nvSpPr>
          <p:cNvPr id="29" name="Text 27"/>
          <p:cNvSpPr txBox="1"/>
          <p:nvPr/>
        </p:nvSpPr>
        <p:spPr>
          <a:xfrm>
            <a:off x="10515600" y="2926080"/>
            <a:ext cx="1097280" cy="365760"/>
          </a:xfrm>
          <a:prstGeom prst="rect">
            <a:avLst/>
          </a:prstGeom>
          <a:noFill/>
          <a:ln/>
        </p:spPr>
        <p:txBody>
          <a:bodyPr wrap="square" lIns="0" tIns="0" rIns="0" bIns="0" rtlCol="0" anchor="ctr"/>
          <a:lstStyle/>
          <a:p>
            <a:pPr algn="r" indent="0" marL="0">
              <a:buNone/>
            </a:pPr>
            <a:r>
              <a:rPr lang="en-US" sz="1000" dirty="0">
                <a:solidFill>
                  <a:schemeClr val="accent4"/>
                </a:solidFill>
              </a:rPr>
              <a:t>U10 · COULD</a:t>
            </a:r>
            <a:endParaRPr lang="en-US" sz="1000" dirty="0"/>
          </a:p>
        </p:txBody>
      </p:sp>
      <p:sp>
        <p:nvSpPr>
          <p:cNvPr id="30" name="Shape 28"/>
          <p:cNvSpPr/>
          <p:nvPr/>
        </p:nvSpPr>
        <p:spPr>
          <a:xfrm>
            <a:off x="8961120" y="1371600"/>
            <a:ext cx="0" cy="3063240"/>
          </a:xfrm>
          <a:prstGeom prst="line">
            <a:avLst/>
          </a:prstGeom>
          <a:noFill/>
          <a:ln w="22225">
            <a:solidFill>
              <a:schemeClr val="accent6"/>
            </a:solidFill>
            <a:prstDash val="dash"/>
          </a:ln>
        </p:spPr>
      </p:sp>
      <p:sp>
        <p:nvSpPr>
          <p:cNvPr id="31" name="Text 29"/>
          <p:cNvSpPr txBox="1"/>
          <p:nvPr/>
        </p:nvSpPr>
        <p:spPr>
          <a:xfrm>
            <a:off x="8092440" y="4114800"/>
            <a:ext cx="804672" cy="274320"/>
          </a:xfrm>
          <a:prstGeom prst="rect">
            <a:avLst/>
          </a:prstGeom>
          <a:noFill/>
          <a:ln/>
        </p:spPr>
        <p:txBody>
          <a:bodyPr wrap="square" lIns="0" tIns="0" rIns="0" bIns="0" rtlCol="0" anchor="ctr"/>
          <a:lstStyle/>
          <a:p>
            <a:pPr algn="r" indent="0" marL="0">
              <a:buNone/>
            </a:pPr>
            <a:r>
              <a:rPr lang="en-US" sz="1000" b="1" dirty="0">
                <a:solidFill>
                  <a:schemeClr val="accent6"/>
                </a:solidFill>
              </a:rPr>
              <a:t>corte MUST</a:t>
            </a:r>
            <a:endParaRPr lang="en-US" sz="1000" dirty="0"/>
          </a:p>
        </p:txBody>
      </p:sp>
      <p:sp>
        <p:nvSpPr>
          <p:cNvPr id="32" name="Text 30"/>
          <p:cNvSpPr txBox="1"/>
          <p:nvPr/>
        </p:nvSpPr>
        <p:spPr>
          <a:xfrm>
            <a:off x="3337560" y="3493008"/>
            <a:ext cx="2743200" cy="329184"/>
          </a:xfrm>
          <a:prstGeom prst="rect">
            <a:avLst/>
          </a:prstGeom>
          <a:noFill/>
          <a:ln/>
        </p:spPr>
        <p:txBody>
          <a:bodyPr wrap="square" lIns="0" tIns="0" rIns="0" bIns="0" rtlCol="0" anchor="ctr"/>
          <a:lstStyle/>
          <a:p>
            <a:pPr algn="l" indent="0" marL="0">
              <a:buNone/>
            </a:pPr>
            <a:r>
              <a:rPr lang="en-US" sz="1100" i="1" dirty="0">
                <a:solidFill>
                  <a:schemeClr val="accent2"/>
                </a:solidFill>
              </a:rPr>
              <a:t>← primera rebanada de punta a punta</a:t>
            </a:r>
            <a:endParaRPr lang="en-US" sz="1100" dirty="0"/>
          </a:p>
        </p:txBody>
      </p:sp>
      <p:sp>
        <p:nvSpPr>
          <p:cNvPr id="33" name="Text 31"/>
          <p:cNvSpPr txBox="1"/>
          <p:nvPr/>
        </p:nvSpPr>
        <p:spPr>
          <a:xfrm>
            <a:off x="457200" y="4709160"/>
            <a:ext cx="5486400" cy="274320"/>
          </a:xfrm>
          <a:prstGeom prst="rect">
            <a:avLst/>
          </a:prstGeom>
          <a:noFill/>
          <a:ln/>
        </p:spPr>
        <p:txBody>
          <a:bodyPr wrap="square" lIns="0" tIns="0" rIns="0" bIns="0" rtlCol="0" anchor="ctr"/>
          <a:lstStyle/>
          <a:p>
            <a:pPr algn="l" indent="0" marL="0">
              <a:buNone/>
            </a:pPr>
            <a:r>
              <a:rPr lang="en-US" sz="1100" b="1" spc="100" kern="0" dirty="0">
                <a:solidFill>
                  <a:schemeClr val="tx2"/>
                </a:solidFill>
              </a:rPr>
              <a:t>ACTIVIDADES PRIMARIAS DE CADA UNIDAD</a:t>
            </a:r>
            <a:endParaRPr lang="en-US" sz="1100" dirty="0"/>
          </a:p>
        </p:txBody>
      </p:sp>
      <p:sp>
        <p:nvSpPr>
          <p:cNvPr id="34" name="Text 32"/>
          <p:cNvSpPr txBox="1"/>
          <p:nvPr/>
        </p:nvSpPr>
        <p:spPr>
          <a:xfrm>
            <a:off x="457200" y="5321808"/>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5" name="Text 33"/>
          <p:cNvSpPr txBox="1"/>
          <p:nvPr/>
        </p:nvSpPr>
        <p:spPr>
          <a:xfrm>
            <a:off x="1051560" y="5074920"/>
            <a:ext cx="1536192" cy="1005840"/>
          </a:xfrm>
          <a:prstGeom prst="rect">
            <a:avLst/>
          </a:prstGeom>
          <a:noFill/>
          <a:ln/>
        </p:spPr>
        <p:txBody>
          <a:bodyPr wrap="square" lIns="0" tIns="0" rIns="0" bIns="0" rtlCol="0" anchor="ctr"/>
          <a:lstStyle/>
          <a:p>
            <a:pPr indent="0" marL="0">
              <a:buNone/>
            </a:pPr>
            <a:r>
              <a:rPr lang="en-US" sz="1200" b="1" dirty="0">
                <a:solidFill>
                  <a:schemeClr val="tx2"/>
                </a:solidFill>
              </a:rPr>
              <a:t>Pruebas guardia en rojo</a:t>
            </a:r>
            <a:endParaRPr lang="en-US" sz="1200" dirty="0"/>
          </a:p>
          <a:p>
            <a:pPr indent="0" marL="0">
              <a:buNone/>
            </a:pPr>
            <a:r>
              <a:rPr lang="en-US" sz="1000" dirty="0">
                <a:solidFill>
                  <a:schemeClr val="accent4"/>
                </a:solidFill>
              </a:rPr>
              <a:t>AUTONOMIA-03/05 y contratos</a:t>
            </a:r>
            <a:endParaRPr lang="en-US" sz="1200" dirty="0"/>
          </a:p>
        </p:txBody>
      </p:sp>
      <p:sp>
        <p:nvSpPr>
          <p:cNvPr id="36" name="Text 34"/>
          <p:cNvSpPr txBox="1"/>
          <p:nvPr/>
        </p:nvSpPr>
        <p:spPr>
          <a:xfrm>
            <a:off x="2743200" y="5321808"/>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7" name="Text 35"/>
          <p:cNvSpPr txBox="1"/>
          <p:nvPr/>
        </p:nvSpPr>
        <p:spPr>
          <a:xfrm>
            <a:off x="3337560" y="5074920"/>
            <a:ext cx="1536192" cy="1005840"/>
          </a:xfrm>
          <a:prstGeom prst="rect">
            <a:avLst/>
          </a:prstGeom>
          <a:noFill/>
          <a:ln/>
        </p:spPr>
        <p:txBody>
          <a:bodyPr wrap="square" lIns="0" tIns="0" rIns="0" bIns="0" rtlCol="0" anchor="ctr"/>
          <a:lstStyle/>
          <a:p>
            <a:pPr indent="0" marL="0">
              <a:buNone/>
            </a:pPr>
            <a:r>
              <a:rPr lang="en-US" sz="1200" b="1" dirty="0">
                <a:solidFill>
                  <a:schemeClr val="tx2"/>
                </a:solidFill>
              </a:rPr>
              <a:t>Capa por capa con pruebas</a:t>
            </a:r>
            <a:endParaRPr lang="en-US" sz="1200" dirty="0"/>
          </a:p>
          <a:p>
            <a:pPr indent="0" marL="0">
              <a:buNone/>
            </a:pPr>
            <a:r>
              <a:rPr lang="en-US" sz="1000" dirty="0">
                <a:solidFill>
                  <a:schemeClr val="accent4"/>
                </a:solidFill>
              </a:rPr>
              <a:t>80 % líneas · 100 % ramas guardia</a:t>
            </a:r>
            <a:endParaRPr lang="en-US" sz="1200" dirty="0"/>
          </a:p>
        </p:txBody>
      </p:sp>
      <p:sp>
        <p:nvSpPr>
          <p:cNvPr id="38" name="Text 36"/>
          <p:cNvSpPr txBox="1"/>
          <p:nvPr/>
        </p:nvSpPr>
        <p:spPr>
          <a:xfrm>
            <a:off x="5029200" y="5321808"/>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9" name="Text 37"/>
          <p:cNvSpPr txBox="1"/>
          <p:nvPr/>
        </p:nvSpPr>
        <p:spPr>
          <a:xfrm>
            <a:off x="5623560" y="5074920"/>
            <a:ext cx="1536192" cy="1005840"/>
          </a:xfrm>
          <a:prstGeom prst="rect">
            <a:avLst/>
          </a:prstGeom>
          <a:noFill/>
          <a:ln/>
        </p:spPr>
        <p:txBody>
          <a:bodyPr wrap="square" lIns="0" tIns="0" rIns="0" bIns="0" rtlCol="0" anchor="ctr"/>
          <a:lstStyle/>
          <a:p>
            <a:pPr indent="0" marL="0">
              <a:buNone/>
            </a:pPr>
            <a:r>
              <a:rPr lang="en-US" sz="1200" b="1" dirty="0">
                <a:solidFill>
                  <a:schemeClr val="tx2"/>
                </a:solidFill>
              </a:rPr>
              <a:t>Evaluación de IA</a:t>
            </a:r>
            <a:endParaRPr lang="en-US" sz="1200" dirty="0"/>
          </a:p>
          <a:p>
            <a:pPr indent="0" marL="0">
              <a:buNone/>
            </a:pPr>
            <a:r>
              <a:rPr lang="en-US" sz="1000" dirty="0">
                <a:solidFill>
                  <a:schemeClr val="accent4"/>
                </a:solidFill>
              </a:rPr>
              <a:t>Golden Dataset, temp. 0</a:t>
            </a:r>
            <a:endParaRPr lang="en-US" sz="1200" dirty="0"/>
          </a:p>
        </p:txBody>
      </p:sp>
      <p:sp>
        <p:nvSpPr>
          <p:cNvPr id="40" name="Text 38"/>
          <p:cNvSpPr txBox="1"/>
          <p:nvPr/>
        </p:nvSpPr>
        <p:spPr>
          <a:xfrm>
            <a:off x="7315200" y="5321808"/>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1" name="Text 39"/>
          <p:cNvSpPr txBox="1"/>
          <p:nvPr/>
        </p:nvSpPr>
        <p:spPr>
          <a:xfrm>
            <a:off x="7909560" y="5074920"/>
            <a:ext cx="1536192" cy="1005840"/>
          </a:xfrm>
          <a:prstGeom prst="rect">
            <a:avLst/>
          </a:prstGeom>
          <a:noFill/>
          <a:ln/>
        </p:spPr>
        <p:txBody>
          <a:bodyPr wrap="square" lIns="0" tIns="0" rIns="0" bIns="0" rtlCol="0" anchor="ctr"/>
          <a:lstStyle/>
          <a:p>
            <a:pPr indent="0" marL="0">
              <a:buNone/>
            </a:pPr>
            <a:r>
              <a:rPr lang="en-US" sz="1200" b="1" dirty="0">
                <a:solidFill>
                  <a:schemeClr val="tx2"/>
                </a:solidFill>
              </a:rPr>
              <a:t>PR con evidencia</a:t>
            </a:r>
            <a:endParaRPr lang="en-US" sz="1200" dirty="0"/>
          </a:p>
          <a:p>
            <a:pPr indent="0" marL="0">
              <a:buNone/>
            </a:pPr>
            <a:r>
              <a:rPr lang="en-US" sz="1000" dirty="0">
                <a:solidFill>
                  <a:schemeClr val="accent4"/>
                </a:solidFill>
              </a:rPr>
              <a:t>Verificación: &lt;comando&gt;</a:t>
            </a:r>
            <a:endParaRPr lang="en-US" sz="1200" dirty="0"/>
          </a:p>
        </p:txBody>
      </p:sp>
      <p:sp>
        <p:nvSpPr>
          <p:cNvPr id="42" name="Text 40"/>
          <p:cNvSpPr txBox="1"/>
          <p:nvPr/>
        </p:nvSpPr>
        <p:spPr>
          <a:xfrm>
            <a:off x="9601200" y="5321808"/>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3" name="Text 41"/>
          <p:cNvSpPr txBox="1"/>
          <p:nvPr/>
        </p:nvSpPr>
        <p:spPr>
          <a:xfrm>
            <a:off x="10195560" y="5074920"/>
            <a:ext cx="1536192" cy="1005840"/>
          </a:xfrm>
          <a:prstGeom prst="rect">
            <a:avLst/>
          </a:prstGeom>
          <a:noFill/>
          <a:ln/>
        </p:spPr>
        <p:txBody>
          <a:bodyPr wrap="square" lIns="0" tIns="0" rIns="0" bIns="0" rtlCol="0" anchor="ctr"/>
          <a:lstStyle/>
          <a:p>
            <a:pPr indent="0" marL="0">
              <a:buNone/>
            </a:pPr>
            <a:r>
              <a:rPr lang="en-US" sz="1200" b="1" dirty="0">
                <a:solidFill>
                  <a:schemeClr val="tx2"/>
                </a:solidFill>
              </a:rPr>
              <a:t>Humo tras desplegar</a:t>
            </a:r>
            <a:endParaRPr lang="en-US" sz="1200" dirty="0"/>
          </a:p>
          <a:p>
            <a:pPr indent="0" marL="0">
              <a:buNone/>
            </a:pPr>
            <a:r>
              <a:rPr lang="en-US" sz="1000" dirty="0">
                <a:solidFill>
                  <a:schemeClr val="accent4"/>
                </a:solidFill>
              </a:rPr>
              <a:t>scripts/smoke.sh</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Veridicus">
  <a:themeElements>
    <a:clrScheme name="Veridicus">
      <a:dk1>
        <a:srgbClr val="1F2937"/>
      </a:dk1>
      <a:lt1>
        <a:srgbClr val="FFFFFF"/>
      </a:lt1>
      <a:dk2>
        <a:srgbClr val="0E1E3A"/>
      </a:dk2>
      <a:lt2>
        <a:srgbClr val="F4F6FA"/>
      </a:lt2>
      <a:accent1>
        <a:srgbClr val="2EC4B6"/>
      </a:accent1>
      <a:accent2>
        <a:srgbClr val="FF9F1C"/>
      </a:accent2>
      <a:accent3>
        <a:srgbClr val="162A4A"/>
      </a:accent3>
      <a:accent4>
        <a:srgbClr val="5B6B82"/>
      </a:accent4>
      <a:accent5>
        <a:srgbClr val="C7D2E0"/>
      </a:accent5>
      <a:accent6>
        <a:srgbClr val="E74C3C"/>
      </a:accent6>
      <a:hlink>
        <a:srgbClr val="2EC4B6"/>
      </a:hlink>
      <a:folHlink>
        <a:srgbClr val="5B6B82"/>
      </a:folHlink>
    </a:clrScheme>
    <a:fontScheme name="Veridicu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Veridicus — avance con AI-DLC</dc:title>
  <dc:subject>PptxGenJS Presentation</dc:subject>
  <dc:creator>Felipe Reyes Palacio</dc:creator>
  <cp:lastModifiedBy>Felipe Reyes Palacio</cp:lastModifiedBy>
  <cp:revision>1</cp:revision>
  <dcterms:created xsi:type="dcterms:W3CDTF">2026-10-03T04:23:20Z</dcterms:created>
  <dcterms:modified xsi:type="dcterms:W3CDTF">2026-10-03T04:23:20Z</dcterms:modified>
</cp:coreProperties>
</file>